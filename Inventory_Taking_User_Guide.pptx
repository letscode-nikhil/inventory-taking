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theme/themeOverride2.xml" ContentType="application/vnd.openxmlformats-officedocument.themeOverride+xml"/>
  <Override PartName="/ppt/notesSlides/notesSlide10.xml" ContentType="application/vnd.openxmlformats-officedocument.presentationml.notesSlide+xml"/>
  <Override PartName="/ppt/theme/themeOverride3.xml" ContentType="application/vnd.openxmlformats-officedocument.themeOverride+xml"/>
  <Override PartName="/ppt/notesSlides/notesSlide11.xml" ContentType="application/vnd.openxmlformats-officedocument.presentationml.notesSlide+xml"/>
  <Override PartName="/ppt/theme/themeOverride4.xml" ContentType="application/vnd.openxmlformats-officedocument.themeOverride+xml"/>
  <Override PartName="/ppt/notesSlides/notesSlide12.xml" ContentType="application/vnd.openxmlformats-officedocument.presentationml.notesSlide+xml"/>
  <Override PartName="/ppt/theme/themeOverride5.xml" ContentType="application/vnd.openxmlformats-officedocument.themeOverride+xml"/>
  <Override PartName="/ppt/notesSlides/notesSlide13.xml" ContentType="application/vnd.openxmlformats-officedocument.presentationml.notesSlide+xml"/>
  <Override PartName="/ppt/theme/themeOverride6.xml" ContentType="application/vnd.openxmlformats-officedocument.themeOverride+xml"/>
  <Override PartName="/ppt/notesSlides/notesSlide14.xml" ContentType="application/vnd.openxmlformats-officedocument.presentationml.notesSlide+xml"/>
  <Override PartName="/ppt/theme/themeOverride7.xml" ContentType="application/vnd.openxmlformats-officedocument.themeOverride+xml"/>
  <Override PartName="/ppt/notesSlides/notesSlide15.xml" ContentType="application/vnd.openxmlformats-officedocument.presentationml.notesSlide+xml"/>
  <Override PartName="/ppt/theme/themeOverride8.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8" r:id="rId2"/>
    <p:sldId id="261" r:id="rId3"/>
    <p:sldId id="257" r:id="rId4"/>
    <p:sldId id="258" r:id="rId5"/>
    <p:sldId id="260" r:id="rId6"/>
    <p:sldId id="263" r:id="rId7"/>
    <p:sldId id="265" r:id="rId8"/>
    <p:sldId id="266" r:id="rId9"/>
    <p:sldId id="267" r:id="rId10"/>
    <p:sldId id="269" r:id="rId11"/>
    <p:sldId id="270" r:id="rId12"/>
    <p:sldId id="271" r:id="rId13"/>
    <p:sldId id="272" r:id="rId14"/>
    <p:sldId id="273" r:id="rId15"/>
    <p:sldId id="274" r:id="rId16"/>
    <p:sldId id="27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50B5B68-D319-4172-54C0-5621216F9B74}">
          <p14:sldIdLst>
            <p14:sldId id="268"/>
            <p14:sldId id="261"/>
            <p14:sldId id="257"/>
          </p14:sldIdLst>
        </p14:section>
        <p14:section name="Pre-requisites" id="{D64EAE95-D77D-4ABC-9BFD-09586CB5566D}">
          <p14:sldIdLst>
            <p14:sldId id="258"/>
          </p14:sldIdLst>
        </p14:section>
        <p14:section name="Process flow" id="{A224557F-9650-51CC-8D05-78A32D0CAAB2}">
          <p14:sldIdLst>
            <p14:sldId id="260"/>
          </p14:sldIdLst>
        </p14:section>
        <p14:section name="Reports and decisions" id="{4EA150C0-0803-E16C-2EAE-8AEC3E258279}">
          <p14:sldIdLst>
            <p14:sldId id="263"/>
            <p14:sldId id="265"/>
            <p14:sldId id="266"/>
          </p14:sldIdLst>
        </p14:section>
        <p14:section name="Wrap up" id="{66C060BD-13E8-14B4-D28F-E15DBFD1201F}">
          <p14:sldIdLst>
            <p14:sldId id="267"/>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98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8154-5057-5443-9DC3-A98C494D2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A0DD5-0E38-93EC-EFEF-BAE3273CD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BA57B-4BBF-E199-99D6-7E55A93ADF00}"/>
              </a:ext>
            </a:extLst>
          </p:cNvPr>
          <p:cNvSpPr>
            <a:spLocks noGrp="1"/>
          </p:cNvSpPr>
          <p:nvPr>
            <p:ph type="body" idx="1"/>
          </p:nvPr>
        </p:nvSpPr>
        <p:spPr/>
        <p:txBody>
          <a:bodyPr/>
          <a:lstStyle/>
          <a:p>
            <a:r>
              <a:rPr lang="en-US" dirty="0"/>
              <a:t>Introduce the session: how users take inventory in the warehouse using the Stockcount app and how the count is brought into Elixir.</a:t>
            </a:r>
          </a:p>
        </p:txBody>
      </p:sp>
      <p:sp>
        <p:nvSpPr>
          <p:cNvPr id="4" name="Slide Number Placeholder 3">
            <a:extLst>
              <a:ext uri="{FF2B5EF4-FFF2-40B4-BE49-F238E27FC236}">
                <a16:creationId xmlns:a16="http://schemas.microsoft.com/office/drawing/2014/main" id="{30338115-2D5E-A7BD-C562-EEAD451AF88A}"/>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5464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Stockcount app is the golden source of inventory data. It does not show what is in the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count in the warehouse with the Stockcount app, download and import into Elixir, then review the reports and decide what to adjust or receive.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data must be current before counting: product master (count, product name, landed cost) and location areas and locations. While inventory taking is in progress, products and locations cannot be created and data cannot be updated. Bins are allocated to users, and credentials are created for the users who will take inventory.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count in the Stockcount app, download after FINISH (a Stockcount_Id is created for each download), import the Excel into Elixir, review with the new reports, then decide what to adjust or receive.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new reports: Stockcount Report (by stockcount_id), the two comparison reports (batch and location), the Inventory Adj Download and the Receive Import template.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downloads cover all products in the stockcount. Users have to take decisions on adjusting and receiving.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points for discussion: a product appearing in multiple stockcounts; the decisions on adjusting and receiving sit with users; a product or batch on hold (Committed) cannot be adjusted until it is shipped out or unconfirmed.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D8C4A-CC56-CB03-F9B0-7E9831559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08A4E-9D84-97D4-DE42-2585C0F19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0D009-53A8-3F21-C8E9-6AB184F1A3C9}"/>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25D41987-D036-3C0D-5134-2DB320CD3F6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26191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80B2-91EC-483D-D618-3497393DCE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EC939-DBDA-9EBB-8CD3-8123D11E0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65695-AEAA-0956-92E3-B8221B4336FD}"/>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330534EC-4314-7875-2440-F1DF85511C2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541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017B-5436-E2D2-5124-64B6D8E74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AC50B-7FBC-AB42-FA44-525BA63A0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E7EFC-0F95-B795-6F46-F0D7374BBB13}"/>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F62C79EB-4400-000B-4C64-451ECBED9DD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44323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0283-5AE4-95DC-8668-B2100ADEF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BFCD1-9488-40C4-CE7A-6B8CAB881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F099F-ED7C-AB35-AA6E-1CF4F4C113A7}"/>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C17865EF-F345-9773-2439-8C2DE0D4E2B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88228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8C077-8B0C-C4F1-1156-B6323A08E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8D299-5126-4B79-C288-E44C82CFB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D16F7-F6D5-7A23-59C7-26AB7890938D}"/>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01EB19D8-E4A8-BB47-68BB-0BE84D2A467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29586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75E4-DB86-04F0-B3EB-FFD7873C3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53FA6-5A35-329C-B438-923D314ED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0A903-D532-7D12-28F5-0B7C9CD402F4}"/>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D1AB2C06-A328-2DC6-0BAB-FB88DD6F770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36174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8DF5-B915-1E1B-4310-1F7141453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49141-2A23-F011-F8C3-BECB963A7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CDBD0-A51C-8BBC-4450-942BE0EAC5A9}"/>
              </a:ext>
            </a:extLst>
          </p:cNvPr>
          <p:cNvSpPr>
            <a:spLocks noGrp="1"/>
          </p:cNvSpPr>
          <p:nvPr>
            <p:ph type="body" idx="1"/>
          </p:nvPr>
        </p:nvSpPr>
        <p:spPr/>
        <p:txBody>
          <a:bodyPr/>
          <a:lstStyle/>
          <a:p>
            <a:r>
              <a:rPr lang="en-US" dirty="0"/>
              <a:t>Close: the system does some validations, but users are responsible for data integrity, data cleanliness and data validations.</a:t>
            </a:r>
          </a:p>
        </p:txBody>
      </p:sp>
      <p:sp>
        <p:nvSpPr>
          <p:cNvPr id="4" name="Slide Number Placeholder 3">
            <a:extLst>
              <a:ext uri="{FF2B5EF4-FFF2-40B4-BE49-F238E27FC236}">
                <a16:creationId xmlns:a16="http://schemas.microsoft.com/office/drawing/2014/main" id="{CE220E18-60CE-B87E-97DC-D092A853B37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16831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786384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3108960"/>
            <a:ext cx="7863840" cy="64008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marL="0" indent="0">
              <a:buNone/>
            </a:pPr>
            <a:r>
              <a:rPr lang="en-US" sz="1000" dirty="0">
                <a:solidFill>
                  <a:schemeClr val="accent5"/>
                </a:solidFill>
              </a:rPr>
              <a:t>Elixir ERP  |  Warehouse Inventory Taking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hemeOverride" Target="../theme/themeOverride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hemeOverride" Target="../theme/themeOverride4.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hemeOverride" Target="../theme/themeOverride5.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hemeOverride" Target="../theme/themeOverride6.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hemeOverride" Target="../theme/themeOverride7.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hemeOverride" Target="../theme/themeOverride8.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5F0EBB-EC3C-635A-49C3-880599CCB37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0D1D739-EDC4-4BE6-A073-9B157E1F9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CDD35A4-E546-4AF3-A8B9-AC24C5C9F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custGeom>
            <a:avLst/>
            <a:gdLst>
              <a:gd name="connsiteX0" fmla="*/ 0 w 12192000"/>
              <a:gd name="connsiteY0" fmla="*/ 0 h 6858000"/>
              <a:gd name="connsiteX1" fmla="*/ 3852070 w 12192000"/>
              <a:gd name="connsiteY1" fmla="*/ 0 h 6858000"/>
              <a:gd name="connsiteX2" fmla="*/ 3878367 w 12192000"/>
              <a:gd name="connsiteY2" fmla="*/ 23504 h 6858000"/>
              <a:gd name="connsiteX3" fmla="*/ 3885324 w 12192000"/>
              <a:gd name="connsiteY3" fmla="*/ 84795 h 6858000"/>
              <a:gd name="connsiteX4" fmla="*/ 3820400 w 12192000"/>
              <a:gd name="connsiteY4" fmla="*/ 131127 h 6858000"/>
              <a:gd name="connsiteX5" fmla="*/ 3631811 w 12192000"/>
              <a:gd name="connsiteY5" fmla="*/ 219929 h 6858000"/>
              <a:gd name="connsiteX6" fmla="*/ 4327428 w 12192000"/>
              <a:gd name="connsiteY6" fmla="*/ 351201 h 6858000"/>
              <a:gd name="connsiteX7" fmla="*/ 4080099 w 12192000"/>
              <a:gd name="connsiteY7" fmla="*/ 432279 h 6858000"/>
              <a:gd name="connsiteX8" fmla="*/ 3823492 w 12192000"/>
              <a:gd name="connsiteY8" fmla="*/ 490194 h 6858000"/>
              <a:gd name="connsiteX9" fmla="*/ 3545246 w 12192000"/>
              <a:gd name="connsiteY9" fmla="*/ 532664 h 6858000"/>
              <a:gd name="connsiteX10" fmla="*/ 3291732 w 12192000"/>
              <a:gd name="connsiteY10" fmla="*/ 617605 h 6858000"/>
              <a:gd name="connsiteX11" fmla="*/ 3953340 w 12192000"/>
              <a:gd name="connsiteY11" fmla="*/ 652353 h 6858000"/>
              <a:gd name="connsiteX12" fmla="*/ 3610170 w 12192000"/>
              <a:gd name="connsiteY12" fmla="*/ 729572 h 6858000"/>
              <a:gd name="connsiteX13" fmla="*/ 3328832 w 12192000"/>
              <a:gd name="connsiteY13" fmla="*/ 829957 h 6858000"/>
              <a:gd name="connsiteX14" fmla="*/ 3130966 w 12192000"/>
              <a:gd name="connsiteY14" fmla="*/ 876288 h 6858000"/>
              <a:gd name="connsiteX15" fmla="*/ 2920736 w 12192000"/>
              <a:gd name="connsiteY15" fmla="*/ 887872 h 6858000"/>
              <a:gd name="connsiteX16" fmla="*/ 2871269 w 12192000"/>
              <a:gd name="connsiteY16" fmla="*/ 961228 h 6858000"/>
              <a:gd name="connsiteX17" fmla="*/ 2936195 w 12192000"/>
              <a:gd name="connsiteY17" fmla="*/ 1038448 h 6858000"/>
              <a:gd name="connsiteX18" fmla="*/ 3035126 w 12192000"/>
              <a:gd name="connsiteY18" fmla="*/ 1046168 h 6858000"/>
              <a:gd name="connsiteX19" fmla="*/ 3625627 w 12192000"/>
              <a:gd name="connsiteY19" fmla="*/ 1065474 h 6858000"/>
              <a:gd name="connsiteX20" fmla="*/ 1733551 w 12192000"/>
              <a:gd name="connsiteY20" fmla="*/ 1235355 h 6858000"/>
              <a:gd name="connsiteX21" fmla="*/ 1990156 w 12192000"/>
              <a:gd name="connsiteY21" fmla="*/ 1339602 h 6858000"/>
              <a:gd name="connsiteX22" fmla="*/ 2076722 w 12192000"/>
              <a:gd name="connsiteY22" fmla="*/ 1625311 h 6858000"/>
              <a:gd name="connsiteX23" fmla="*/ 2392067 w 12192000"/>
              <a:gd name="connsiteY23" fmla="*/ 1787470 h 6858000"/>
              <a:gd name="connsiteX24" fmla="*/ 2596115 w 12192000"/>
              <a:gd name="connsiteY24" fmla="*/ 1845385 h 6858000"/>
              <a:gd name="connsiteX25" fmla="*/ 3062950 w 12192000"/>
              <a:gd name="connsiteY25" fmla="*/ 1930326 h 6858000"/>
              <a:gd name="connsiteX26" fmla="*/ 3130966 w 12192000"/>
              <a:gd name="connsiteY26" fmla="*/ 2069319 h 6858000"/>
              <a:gd name="connsiteX27" fmla="*/ 3189708 w 12192000"/>
              <a:gd name="connsiteY27" fmla="*/ 2223754 h 6858000"/>
              <a:gd name="connsiteX28" fmla="*/ 3313373 w 12192000"/>
              <a:gd name="connsiteY28" fmla="*/ 2324141 h 6858000"/>
              <a:gd name="connsiteX29" fmla="*/ 2351877 w 12192000"/>
              <a:gd name="connsiteY29" fmla="*/ 2308697 h 6858000"/>
              <a:gd name="connsiteX30" fmla="*/ 3437038 w 12192000"/>
              <a:gd name="connsiteY30" fmla="*/ 2633017 h 6858000"/>
              <a:gd name="connsiteX31" fmla="*/ 3341198 w 12192000"/>
              <a:gd name="connsiteY31" fmla="*/ 2760427 h 6858000"/>
              <a:gd name="connsiteX32" fmla="*/ 3934791 w 12192000"/>
              <a:gd name="connsiteY32" fmla="*/ 2934169 h 6858000"/>
              <a:gd name="connsiteX33" fmla="*/ 3616352 w 12192000"/>
              <a:gd name="connsiteY33" fmla="*/ 2953473 h 6858000"/>
              <a:gd name="connsiteX34" fmla="*/ 5468240 w 12192000"/>
              <a:gd name="connsiteY34" fmla="*/ 3679329 h 6858000"/>
              <a:gd name="connsiteX35" fmla="*/ 8111582 w 12192000"/>
              <a:gd name="connsiteY35" fmla="*/ 4204418 h 6858000"/>
              <a:gd name="connsiteX36" fmla="*/ 9144186 w 12192000"/>
              <a:gd name="connsiteY36" fmla="*/ 4304802 h 6858000"/>
              <a:gd name="connsiteX37" fmla="*/ 10319004 w 12192000"/>
              <a:gd name="connsiteY37" fmla="*/ 4273915 h 6858000"/>
              <a:gd name="connsiteX38" fmla="*/ 12053408 w 12192000"/>
              <a:gd name="connsiteY38" fmla="*/ 3907125 h 6858000"/>
              <a:gd name="connsiteX39" fmla="*/ 12192000 w 12192000"/>
              <a:gd name="connsiteY39" fmla="*/ 3841157 h 6858000"/>
              <a:gd name="connsiteX40" fmla="*/ 12192000 w 12192000"/>
              <a:gd name="connsiteY40" fmla="*/ 6858000 h 6858000"/>
              <a:gd name="connsiteX41" fmla="*/ 0 w 12192000"/>
              <a:gd name="connsiteY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2192000" h="6858000">
                <a:moveTo>
                  <a:pt x="0" y="0"/>
                </a:moveTo>
                <a:lnTo>
                  <a:pt x="3852070" y="0"/>
                </a:lnTo>
                <a:lnTo>
                  <a:pt x="3878367" y="23504"/>
                </a:lnTo>
                <a:cubicBezTo>
                  <a:pt x="3887642" y="39430"/>
                  <a:pt x="3891507" y="59700"/>
                  <a:pt x="3885324" y="84795"/>
                </a:cubicBezTo>
                <a:cubicBezTo>
                  <a:pt x="3876049" y="123406"/>
                  <a:pt x="3845133" y="123406"/>
                  <a:pt x="3820400" y="131127"/>
                </a:cubicBezTo>
                <a:cubicBezTo>
                  <a:pt x="3764751" y="154292"/>
                  <a:pt x="3696735" y="138849"/>
                  <a:pt x="3631811" y="219929"/>
                </a:cubicBezTo>
                <a:cubicBezTo>
                  <a:pt x="3879141" y="262399"/>
                  <a:pt x="4117198" y="181318"/>
                  <a:pt x="4327428" y="351201"/>
                </a:cubicBezTo>
                <a:cubicBezTo>
                  <a:pt x="4250138" y="436142"/>
                  <a:pt x="4163572" y="416836"/>
                  <a:pt x="4080099" y="432279"/>
                </a:cubicBezTo>
                <a:cubicBezTo>
                  <a:pt x="3993533" y="447725"/>
                  <a:pt x="3910058" y="474751"/>
                  <a:pt x="3823492" y="490194"/>
                </a:cubicBezTo>
                <a:cubicBezTo>
                  <a:pt x="3730743" y="509498"/>
                  <a:pt x="3637993" y="513360"/>
                  <a:pt x="3545246" y="532664"/>
                </a:cubicBezTo>
                <a:cubicBezTo>
                  <a:pt x="3467954" y="548109"/>
                  <a:pt x="3384480" y="521081"/>
                  <a:pt x="3291732" y="617605"/>
                </a:cubicBezTo>
                <a:cubicBezTo>
                  <a:pt x="3520513" y="687103"/>
                  <a:pt x="3727651" y="582857"/>
                  <a:pt x="3953340" y="652353"/>
                </a:cubicBezTo>
                <a:cubicBezTo>
                  <a:pt x="3820400" y="714129"/>
                  <a:pt x="3712194" y="694824"/>
                  <a:pt x="3610170" y="729572"/>
                </a:cubicBezTo>
                <a:cubicBezTo>
                  <a:pt x="3517420" y="764322"/>
                  <a:pt x="3406122" y="725712"/>
                  <a:pt x="3328832" y="829957"/>
                </a:cubicBezTo>
                <a:cubicBezTo>
                  <a:pt x="3270090" y="911035"/>
                  <a:pt x="3208258" y="922618"/>
                  <a:pt x="3130966" y="876288"/>
                </a:cubicBezTo>
                <a:cubicBezTo>
                  <a:pt x="3062950" y="833818"/>
                  <a:pt x="2988752" y="845400"/>
                  <a:pt x="2920736" y="887872"/>
                </a:cubicBezTo>
                <a:cubicBezTo>
                  <a:pt x="2896004" y="903315"/>
                  <a:pt x="2871269" y="922618"/>
                  <a:pt x="2871269" y="961228"/>
                </a:cubicBezTo>
                <a:cubicBezTo>
                  <a:pt x="2871269" y="1015283"/>
                  <a:pt x="2902186" y="1030726"/>
                  <a:pt x="2936195" y="1038448"/>
                </a:cubicBezTo>
                <a:cubicBezTo>
                  <a:pt x="2967111" y="1046168"/>
                  <a:pt x="3004210" y="1053891"/>
                  <a:pt x="3035126" y="1046168"/>
                </a:cubicBezTo>
                <a:cubicBezTo>
                  <a:pt x="3232990" y="1003700"/>
                  <a:pt x="3427764" y="1073194"/>
                  <a:pt x="3625627" y="1065474"/>
                </a:cubicBezTo>
                <a:cubicBezTo>
                  <a:pt x="3004210" y="1231494"/>
                  <a:pt x="2376610" y="1177441"/>
                  <a:pt x="1733551" y="1235355"/>
                </a:cubicBezTo>
                <a:cubicBezTo>
                  <a:pt x="1817025" y="1351183"/>
                  <a:pt x="1925232" y="1254661"/>
                  <a:pt x="1990156" y="1339602"/>
                </a:cubicBezTo>
                <a:cubicBezTo>
                  <a:pt x="1928323" y="1517205"/>
                  <a:pt x="1953057" y="1613728"/>
                  <a:pt x="2076722" y="1625311"/>
                </a:cubicBezTo>
                <a:cubicBezTo>
                  <a:pt x="2197295" y="1636894"/>
                  <a:pt x="2327143" y="1575118"/>
                  <a:pt x="2392067" y="1787470"/>
                </a:cubicBezTo>
                <a:cubicBezTo>
                  <a:pt x="2410617" y="1853106"/>
                  <a:pt x="2525008" y="1833802"/>
                  <a:pt x="2596115" y="1845385"/>
                </a:cubicBezTo>
                <a:cubicBezTo>
                  <a:pt x="2750696" y="1872411"/>
                  <a:pt x="2914554" y="1845385"/>
                  <a:pt x="3062950" y="1930326"/>
                </a:cubicBezTo>
                <a:cubicBezTo>
                  <a:pt x="3121692" y="1961213"/>
                  <a:pt x="3161883" y="1984378"/>
                  <a:pt x="3130966" y="2069319"/>
                </a:cubicBezTo>
                <a:cubicBezTo>
                  <a:pt x="3100050" y="2158121"/>
                  <a:pt x="3140242" y="2189008"/>
                  <a:pt x="3189708" y="2223754"/>
                </a:cubicBezTo>
                <a:cubicBezTo>
                  <a:pt x="3226808" y="2250784"/>
                  <a:pt x="3282457" y="2243060"/>
                  <a:pt x="3313373" y="2324141"/>
                </a:cubicBezTo>
                <a:cubicBezTo>
                  <a:pt x="2988752" y="2312558"/>
                  <a:pt x="2673405" y="2246923"/>
                  <a:pt x="2351877" y="2308697"/>
                </a:cubicBezTo>
                <a:cubicBezTo>
                  <a:pt x="2704323" y="2463134"/>
                  <a:pt x="3090776" y="2455412"/>
                  <a:pt x="3437038" y="2633017"/>
                </a:cubicBezTo>
                <a:cubicBezTo>
                  <a:pt x="3424671" y="2694791"/>
                  <a:pt x="3344289" y="2667764"/>
                  <a:pt x="3341198" y="2760427"/>
                </a:cubicBezTo>
                <a:cubicBezTo>
                  <a:pt x="3523603" y="2856951"/>
                  <a:pt x="3743110" y="2791314"/>
                  <a:pt x="3934791" y="2934169"/>
                </a:cubicBezTo>
                <a:cubicBezTo>
                  <a:pt x="3823492" y="2999805"/>
                  <a:pt x="3721469" y="2891699"/>
                  <a:pt x="3616352" y="2953473"/>
                </a:cubicBezTo>
                <a:cubicBezTo>
                  <a:pt x="3650361" y="3046136"/>
                  <a:pt x="5189993" y="3617555"/>
                  <a:pt x="5468240" y="3679329"/>
                </a:cubicBezTo>
                <a:cubicBezTo>
                  <a:pt x="6034007" y="3806740"/>
                  <a:pt x="7663296" y="4131059"/>
                  <a:pt x="8111582" y="4204418"/>
                </a:cubicBezTo>
                <a:cubicBezTo>
                  <a:pt x="8457844" y="4258470"/>
                  <a:pt x="8801016" y="4300942"/>
                  <a:pt x="9144186" y="4304802"/>
                </a:cubicBezTo>
                <a:cubicBezTo>
                  <a:pt x="9536822" y="4308663"/>
                  <a:pt x="9926368" y="4289359"/>
                  <a:pt x="10319004" y="4273915"/>
                </a:cubicBezTo>
                <a:cubicBezTo>
                  <a:pt x="10906415" y="4250750"/>
                  <a:pt x="11484549" y="4158087"/>
                  <a:pt x="12053408" y="3907125"/>
                </a:cubicBezTo>
                <a:lnTo>
                  <a:pt x="12192000" y="3841157"/>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Text 0">
            <a:extLst>
              <a:ext uri="{FF2B5EF4-FFF2-40B4-BE49-F238E27FC236}">
                <a16:creationId xmlns:a16="http://schemas.microsoft.com/office/drawing/2014/main" id="{E58C5256-B3C7-866F-FFC0-83869ED404BA}"/>
              </a:ext>
            </a:extLst>
          </p:cNvPr>
          <p:cNvSpPr>
            <a:spLocks noGrp="1"/>
          </p:cNvSpPr>
          <p:nvPr>
            <p:ph type="title" idx="100" hasCustomPrompt="1"/>
          </p:nvPr>
        </p:nvSpPr>
        <p:spPr>
          <a:xfrm>
            <a:off x="628649" y="2672566"/>
            <a:ext cx="5451110" cy="1315782"/>
          </a:xfrm>
          <a:prstGeom prst="rect">
            <a:avLst/>
          </a:prstGeom>
        </p:spPr>
        <p:txBody>
          <a:bodyPr vert="horz" lIns="91440" tIns="45720" rIns="91440" bIns="45720" rtlCol="0" anchor="b">
            <a:normAutofit/>
          </a:bodyPr>
          <a:lstStyle/>
          <a:p>
            <a:pPr marL="0" indent="0">
              <a:lnSpc>
                <a:spcPct val="90000"/>
              </a:lnSpc>
            </a:pPr>
            <a:r>
              <a:rPr lang="en-US" sz="2800" b="1" kern="1200">
                <a:solidFill>
                  <a:schemeClr val="tx1"/>
                </a:solidFill>
                <a:latin typeface="+mj-lt"/>
                <a:ea typeface="+mj-ea"/>
                <a:cs typeface="+mj-cs"/>
              </a:rPr>
              <a:t>Inventory Taking </a:t>
            </a:r>
            <a:br>
              <a:rPr lang="en-US" sz="2800" b="1" kern="1200">
                <a:solidFill>
                  <a:schemeClr val="tx1"/>
                </a:solidFill>
                <a:latin typeface="+mj-lt"/>
                <a:ea typeface="+mj-ea"/>
                <a:cs typeface="+mj-cs"/>
              </a:rPr>
            </a:br>
            <a:r>
              <a:rPr lang="en-US" sz="2800" b="1" kern="1200">
                <a:solidFill>
                  <a:schemeClr val="tx1"/>
                </a:solidFill>
                <a:latin typeface="+mj-lt"/>
                <a:ea typeface="+mj-ea"/>
                <a:cs typeface="+mj-cs"/>
              </a:rPr>
              <a:t>in the</a:t>
            </a:r>
            <a:br>
              <a:rPr lang="en-US" sz="2800" b="1" kern="1200">
                <a:solidFill>
                  <a:schemeClr val="tx1"/>
                </a:solidFill>
                <a:latin typeface="+mj-lt"/>
                <a:ea typeface="+mj-ea"/>
                <a:cs typeface="+mj-cs"/>
              </a:rPr>
            </a:br>
            <a:r>
              <a:rPr lang="en-US" sz="2800" b="1" kern="1200">
                <a:solidFill>
                  <a:schemeClr val="tx1"/>
                </a:solidFill>
                <a:latin typeface="+mj-lt"/>
                <a:ea typeface="+mj-ea"/>
                <a:cs typeface="+mj-cs"/>
              </a:rPr>
              <a:t>SLT Dayton Warehouse</a:t>
            </a:r>
            <a:endParaRPr lang="en-US" sz="2800" kern="1200">
              <a:solidFill>
                <a:schemeClr val="tx1"/>
              </a:solidFill>
              <a:latin typeface="+mj-lt"/>
              <a:ea typeface="+mj-ea"/>
              <a:cs typeface="+mj-cs"/>
            </a:endParaRPr>
          </a:p>
        </p:txBody>
      </p:sp>
      <p:sp>
        <p:nvSpPr>
          <p:cNvPr id="5" name="Text 0">
            <a:extLst>
              <a:ext uri="{FF2B5EF4-FFF2-40B4-BE49-F238E27FC236}">
                <a16:creationId xmlns:a16="http://schemas.microsoft.com/office/drawing/2014/main" id="{50F6B84C-F7B9-5E04-6F77-447E0DD55289}"/>
              </a:ext>
            </a:extLst>
          </p:cNvPr>
          <p:cNvSpPr>
            <a:spLocks noGrp="1"/>
          </p:cNvSpPr>
          <p:nvPr>
            <p:ph type="body" idx="101" hasCustomPrompt="1"/>
          </p:nvPr>
        </p:nvSpPr>
        <p:spPr>
          <a:xfrm>
            <a:off x="628649" y="4038658"/>
            <a:ext cx="5486400" cy="581621"/>
          </a:xfrm>
          <a:prstGeom prst="rect">
            <a:avLst/>
          </a:prstGeom>
        </p:spPr>
        <p:txBody>
          <a:bodyPr vert="horz" lIns="91440" tIns="45720" rIns="91440" bIns="45720" rtlCol="0" anchor="t">
            <a:normAutofit/>
          </a:bodyPr>
          <a:lstStyle/>
          <a:p>
            <a:pPr>
              <a:lnSpc>
                <a:spcPct val="90000"/>
              </a:lnSpc>
              <a:spcBef>
                <a:spcPts val="1000"/>
              </a:spcBef>
            </a:pPr>
            <a:r>
              <a:rPr lang="en-US" sz="2400" kern="1200">
                <a:solidFill>
                  <a:schemeClr val="tx1"/>
                </a:solidFill>
                <a:latin typeface="+mn-lt"/>
                <a:ea typeface="+mn-ea"/>
                <a:cs typeface="+mn-cs"/>
              </a:rPr>
              <a:t>User guide: Stockcount app and Elixir ERP</a:t>
            </a:r>
          </a:p>
        </p:txBody>
      </p:sp>
      <p:pic>
        <p:nvPicPr>
          <p:cNvPr id="9" name="Picture 8">
            <a:extLst>
              <a:ext uri="{FF2B5EF4-FFF2-40B4-BE49-F238E27FC236}">
                <a16:creationId xmlns:a16="http://schemas.microsoft.com/office/drawing/2014/main" id="{3A6B6658-9811-9BB8-2E46-2DD686CF3814}"/>
              </a:ext>
            </a:extLst>
          </p:cNvPr>
          <p:cNvPicPr>
            <a:picLocks noChangeAspect="1"/>
          </p:cNvPicPr>
          <p:nvPr/>
        </p:nvPicPr>
        <p:blipFill>
          <a:blip r:embed="rId3"/>
          <a:stretch>
            <a:fillRect/>
          </a:stretch>
        </p:blipFill>
        <p:spPr>
          <a:xfrm>
            <a:off x="7149243" y="330954"/>
            <a:ext cx="1119546" cy="380646"/>
          </a:xfrm>
          <a:prstGeom prst="rect">
            <a:avLst/>
          </a:prstGeom>
        </p:spPr>
      </p:pic>
      <p:pic>
        <p:nvPicPr>
          <p:cNvPr id="7" name="Picture 6">
            <a:extLst>
              <a:ext uri="{FF2B5EF4-FFF2-40B4-BE49-F238E27FC236}">
                <a16:creationId xmlns:a16="http://schemas.microsoft.com/office/drawing/2014/main" id="{1DB71914-7671-EB2F-AAB9-22636329CB4D}"/>
              </a:ext>
            </a:extLst>
          </p:cNvPr>
          <p:cNvPicPr>
            <a:picLocks noChangeAspect="1"/>
          </p:cNvPicPr>
          <p:nvPr/>
        </p:nvPicPr>
        <p:blipFill>
          <a:blip r:embed="rId4"/>
          <a:stretch>
            <a:fillRect/>
          </a:stretch>
        </p:blipFill>
        <p:spPr>
          <a:xfrm>
            <a:off x="554219" y="314325"/>
            <a:ext cx="497341" cy="497341"/>
          </a:xfrm>
          <a:prstGeom prst="rect">
            <a:avLst/>
          </a:prstGeom>
        </p:spPr>
      </p:pic>
    </p:spTree>
    <p:extLst>
      <p:ext uri="{BB962C8B-B14F-4D97-AF65-F5344CB8AC3E}">
        <p14:creationId xmlns:p14="http://schemas.microsoft.com/office/powerpoint/2010/main" val="3519394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The Stockcount app is the golden source</a:t>
            </a:r>
            <a:endParaRPr lang="en-US" sz="3200" dirty="0"/>
          </a:p>
        </p:txBody>
      </p:sp>
      <p:sp>
        <p:nvSpPr>
          <p:cNvPr id="3" name="Golden source panel"/>
          <p:cNvSpPr/>
          <p:nvPr/>
        </p:nvSpPr>
        <p:spPr>
          <a:xfrm>
            <a:off x="457200" y="1280160"/>
            <a:ext cx="3840480" cy="3200400"/>
          </a:xfrm>
          <a:prstGeom prst="roundRect">
            <a:avLst>
              <a:gd name="adj" fmla="val 2857"/>
            </a:avLst>
          </a:prstGeom>
          <a:solidFill>
            <a:schemeClr val="tx2"/>
          </a:solidFill>
          <a:ln w="12700">
            <a:solidFill>
              <a:schemeClr val="tx2"/>
            </a:solidFill>
            <a:prstDash val="solid"/>
          </a:ln>
        </p:spPr>
        <p:txBody>
          <a:bodyPr/>
          <a:lstStyle/>
          <a:p>
            <a:endParaRPr lang="en-US"/>
          </a:p>
        </p:txBody>
      </p:sp>
      <p:pic>
        <p:nvPicPr>
          <p:cNvPr id="4" name="App icon" descr="Mobile app"/>
          <p:cNvPicPr>
            <a:picLocks noChangeAspect="1"/>
          </p:cNvPicPr>
          <p:nvPr/>
        </p:nvPicPr>
        <p:blipFill>
          <a:blip r:embed="rId3"/>
          <a:stretch>
            <a:fillRect/>
          </a:stretch>
        </p:blipFill>
        <p:spPr>
          <a:xfrm>
            <a:off x="822960" y="1600200"/>
            <a:ext cx="822960" cy="822960"/>
          </a:xfrm>
          <a:prstGeom prst="rect">
            <a:avLst/>
          </a:prstGeom>
        </p:spPr>
      </p:pic>
      <p:sp>
        <p:nvSpPr>
          <p:cNvPr id="5" name="Text 2"/>
          <p:cNvSpPr txBox="1"/>
          <p:nvPr/>
        </p:nvSpPr>
        <p:spPr>
          <a:xfrm>
            <a:off x="822960" y="2697480"/>
            <a:ext cx="3108960" cy="274320"/>
          </a:xfrm>
          <a:prstGeom prst="rect">
            <a:avLst/>
          </a:prstGeom>
          <a:noFill/>
          <a:ln/>
        </p:spPr>
        <p:txBody>
          <a:bodyPr wrap="square" lIns="0" tIns="0" rIns="0" bIns="0" rtlCol="0" anchor="t"/>
          <a:lstStyle/>
          <a:p>
            <a:pPr marL="0" indent="0">
              <a:buNone/>
            </a:pPr>
            <a:r>
              <a:rPr lang="en-US" sz="1200" b="1" dirty="0">
                <a:solidFill>
                  <a:schemeClr val="accent1"/>
                </a:solidFill>
              </a:rPr>
              <a:t>STOCKCOUNT APP</a:t>
            </a:r>
            <a:endParaRPr lang="en-US" sz="1200" dirty="0"/>
          </a:p>
        </p:txBody>
      </p:sp>
      <p:sp>
        <p:nvSpPr>
          <p:cNvPr id="6" name="Text 3"/>
          <p:cNvSpPr txBox="1"/>
          <p:nvPr/>
        </p:nvSpPr>
        <p:spPr>
          <a:xfrm>
            <a:off x="822960" y="3017520"/>
            <a:ext cx="3108960" cy="1188720"/>
          </a:xfrm>
          <a:prstGeom prst="rect">
            <a:avLst/>
          </a:prstGeom>
          <a:noFill/>
          <a:ln/>
        </p:spPr>
        <p:txBody>
          <a:bodyPr wrap="square" lIns="0" tIns="0" rIns="0" bIns="0" rtlCol="0" anchor="t"/>
          <a:lstStyle/>
          <a:p>
            <a:pPr marL="0" indent="0">
              <a:buNone/>
            </a:pPr>
            <a:r>
              <a:rPr lang="en-US" sz="2400" b="1" dirty="0">
                <a:solidFill>
                  <a:schemeClr val="bg1"/>
                </a:solidFill>
              </a:rPr>
              <a:t>Golden source of inventory data</a:t>
            </a:r>
            <a:endParaRPr lang="en-US" sz="2400" dirty="0"/>
          </a:p>
        </p:txBody>
      </p:sp>
      <p:sp>
        <p:nvSpPr>
          <p:cNvPr id="7" name="Shows card"/>
          <p:cNvSpPr/>
          <p:nvPr/>
        </p:nvSpPr>
        <p:spPr>
          <a:xfrm>
            <a:off x="4572000" y="1280160"/>
            <a:ext cx="4114800" cy="1508760"/>
          </a:xfrm>
          <a:prstGeom prst="roundRect">
            <a:avLst>
              <a:gd name="adj" fmla="val 6061"/>
            </a:avLst>
          </a:prstGeom>
          <a:solidFill>
            <a:schemeClr val="bg2"/>
          </a:solidFill>
          <a:ln w="12700">
            <a:solidFill>
              <a:schemeClr val="bg2"/>
            </a:solidFill>
            <a:prstDash val="solid"/>
          </a:ln>
        </p:spPr>
        <p:txBody>
          <a:bodyPr/>
          <a:lstStyle/>
          <a:p>
            <a:endParaRPr lang="en-US"/>
          </a:p>
        </p:txBody>
      </p:sp>
      <p:sp>
        <p:nvSpPr>
          <p:cNvPr id="8" name="Shows icon circle"/>
          <p:cNvSpPr/>
          <p:nvPr/>
        </p:nvSpPr>
        <p:spPr>
          <a:xfrm>
            <a:off x="4754880" y="1618488"/>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9" name="Shows icon" descr="Shows icon"/>
          <p:cNvPicPr>
            <a:picLocks noChangeAspect="1"/>
          </p:cNvPicPr>
          <p:nvPr/>
        </p:nvPicPr>
        <p:blipFill>
          <a:blip r:embed="rId4"/>
          <a:stretch>
            <a:fillRect/>
          </a:stretch>
        </p:blipFill>
        <p:spPr>
          <a:xfrm>
            <a:off x="4892040" y="1755648"/>
            <a:ext cx="274320" cy="274320"/>
          </a:xfrm>
          <a:prstGeom prst="rect">
            <a:avLst/>
          </a:prstGeom>
        </p:spPr>
      </p:pic>
      <p:sp>
        <p:nvSpPr>
          <p:cNvPr id="10" name="Text 6"/>
          <p:cNvSpPr txBox="1"/>
          <p:nvPr/>
        </p:nvSpPr>
        <p:spPr>
          <a:xfrm>
            <a:off x="5532120" y="1463040"/>
            <a:ext cx="3017520" cy="365760"/>
          </a:xfrm>
          <a:prstGeom prst="rect">
            <a:avLst/>
          </a:prstGeom>
          <a:noFill/>
          <a:ln/>
        </p:spPr>
        <p:txBody>
          <a:bodyPr wrap="square" lIns="0" tIns="0" rIns="0" bIns="0" rtlCol="0" anchor="t"/>
          <a:lstStyle/>
          <a:p>
            <a:pPr marL="0" indent="0">
              <a:buNone/>
            </a:pPr>
            <a:r>
              <a:rPr lang="en-US" sz="1800" b="1" dirty="0">
                <a:solidFill>
                  <a:schemeClr val="tx2"/>
                </a:solidFill>
              </a:rPr>
              <a:t>What it shows</a:t>
            </a:r>
            <a:endParaRPr lang="en-US" sz="1800" dirty="0"/>
          </a:p>
        </p:txBody>
      </p:sp>
      <p:sp>
        <p:nvSpPr>
          <p:cNvPr id="11" name="Text 7"/>
          <p:cNvSpPr txBox="1"/>
          <p:nvPr/>
        </p:nvSpPr>
        <p:spPr>
          <a:xfrm>
            <a:off x="5532120" y="1874520"/>
            <a:ext cx="3017520" cy="731520"/>
          </a:xfrm>
          <a:prstGeom prst="rect">
            <a:avLst/>
          </a:prstGeom>
          <a:noFill/>
          <a:ln/>
        </p:spPr>
        <p:txBody>
          <a:bodyPr wrap="square" lIns="0" tIns="0" rIns="0" bIns="0" rtlCol="0" anchor="t"/>
          <a:lstStyle/>
          <a:p>
            <a:pPr marL="0" indent="0">
              <a:buNone/>
            </a:pPr>
            <a:r>
              <a:rPr lang="en-US" sz="1400" dirty="0">
                <a:solidFill>
                  <a:schemeClr val="tx1"/>
                </a:solidFill>
              </a:rPr>
              <a:t>What users count in the warehouse</a:t>
            </a:r>
            <a:endParaRPr lang="en-US" sz="1400" dirty="0"/>
          </a:p>
        </p:txBody>
      </p:sp>
      <p:sp>
        <p:nvSpPr>
          <p:cNvPr id="12" name="Hides card"/>
          <p:cNvSpPr/>
          <p:nvPr/>
        </p:nvSpPr>
        <p:spPr>
          <a:xfrm>
            <a:off x="4572000" y="2971800"/>
            <a:ext cx="4114800" cy="1508760"/>
          </a:xfrm>
          <a:prstGeom prst="roundRect">
            <a:avLst>
              <a:gd name="adj" fmla="val 6061"/>
            </a:avLst>
          </a:prstGeom>
          <a:solidFill>
            <a:schemeClr val="bg2"/>
          </a:solidFill>
          <a:ln w="12700">
            <a:solidFill>
              <a:schemeClr val="bg2"/>
            </a:solidFill>
            <a:prstDash val="solid"/>
          </a:ln>
        </p:spPr>
        <p:txBody>
          <a:bodyPr/>
          <a:lstStyle/>
          <a:p>
            <a:endParaRPr lang="en-US"/>
          </a:p>
        </p:txBody>
      </p:sp>
      <p:sp>
        <p:nvSpPr>
          <p:cNvPr id="13" name="Hides icon circle"/>
          <p:cNvSpPr/>
          <p:nvPr/>
        </p:nvSpPr>
        <p:spPr>
          <a:xfrm>
            <a:off x="4754880" y="3310128"/>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4" name="Hides icon" descr="Hides icon"/>
          <p:cNvPicPr>
            <a:picLocks noChangeAspect="1"/>
          </p:cNvPicPr>
          <p:nvPr/>
        </p:nvPicPr>
        <p:blipFill>
          <a:blip r:embed="rId5"/>
          <a:stretch>
            <a:fillRect/>
          </a:stretch>
        </p:blipFill>
        <p:spPr>
          <a:xfrm>
            <a:off x="4892040" y="3447288"/>
            <a:ext cx="274320" cy="274320"/>
          </a:xfrm>
          <a:prstGeom prst="rect">
            <a:avLst/>
          </a:prstGeom>
        </p:spPr>
      </p:pic>
      <p:sp>
        <p:nvSpPr>
          <p:cNvPr id="15" name="Text 10"/>
          <p:cNvSpPr txBox="1"/>
          <p:nvPr/>
        </p:nvSpPr>
        <p:spPr>
          <a:xfrm>
            <a:off x="5532120" y="3154680"/>
            <a:ext cx="3017520" cy="365760"/>
          </a:xfrm>
          <a:prstGeom prst="rect">
            <a:avLst/>
          </a:prstGeom>
          <a:noFill/>
          <a:ln/>
        </p:spPr>
        <p:txBody>
          <a:bodyPr wrap="square" lIns="0" tIns="0" rIns="0" bIns="0" rtlCol="0" anchor="t"/>
          <a:lstStyle/>
          <a:p>
            <a:pPr marL="0" indent="0">
              <a:buNone/>
            </a:pPr>
            <a:r>
              <a:rPr lang="en-US" sz="1800" b="1" dirty="0">
                <a:solidFill>
                  <a:schemeClr val="tx2"/>
                </a:solidFill>
              </a:rPr>
              <a:t>What it does not show</a:t>
            </a:r>
            <a:endParaRPr lang="en-US" sz="1800" dirty="0"/>
          </a:p>
        </p:txBody>
      </p:sp>
      <p:sp>
        <p:nvSpPr>
          <p:cNvPr id="16" name="Text 11"/>
          <p:cNvSpPr txBox="1"/>
          <p:nvPr/>
        </p:nvSpPr>
        <p:spPr>
          <a:xfrm>
            <a:off x="5532120" y="3566160"/>
            <a:ext cx="3017520" cy="731520"/>
          </a:xfrm>
          <a:prstGeom prst="rect">
            <a:avLst/>
          </a:prstGeom>
          <a:noFill/>
          <a:ln/>
        </p:spPr>
        <p:txBody>
          <a:bodyPr wrap="square" lIns="0" tIns="0" rIns="0" bIns="0" rtlCol="0" anchor="t"/>
          <a:lstStyle/>
          <a:p>
            <a:pPr marL="0" indent="0">
              <a:buNone/>
            </a:pPr>
            <a:r>
              <a:rPr lang="en-US" sz="1400" dirty="0">
                <a:solidFill>
                  <a:schemeClr val="tx1"/>
                </a:solidFill>
              </a:rPr>
              <a:t>What is in the system (Elixir)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The process at a glance</a:t>
            </a:r>
            <a:endParaRPr lang="en-US" sz="3200" dirty="0"/>
          </a:p>
        </p:txBody>
      </p:sp>
      <p:sp>
        <p:nvSpPr>
          <p:cNvPr id="3" name="Stage 1"/>
          <p:cNvSpPr txBox="1"/>
          <p:nvPr/>
        </p:nvSpPr>
        <p:spPr>
          <a:xfrm>
            <a:off x="457200" y="1383030"/>
            <a:ext cx="1920240" cy="571500"/>
          </a:xfrm>
          <a:prstGeom prst="homePlate">
            <a:avLst/>
          </a:prstGeom>
          <a:solidFill>
            <a:schemeClr val="tx2"/>
          </a:solidFill>
          <a:ln>
            <a:solidFill>
              <a:schemeClr val="tx2"/>
            </a:solidFill>
          </a:ln>
        </p:spPr>
        <p:txBody>
          <a:bodyPr wrap="square" rtlCol="0" anchor="ctr"/>
          <a:lstStyle/>
          <a:p>
            <a:pPr marL="0" indent="0" algn="ctr">
              <a:buNone/>
            </a:pPr>
            <a:r>
              <a:rPr lang="en-US" sz="2000" b="1" dirty="0" err="1">
                <a:solidFill>
                  <a:schemeClr val="bg1"/>
                </a:solidFill>
              </a:rPr>
              <a:t>StockCount</a:t>
            </a:r>
            <a:endParaRPr lang="en-US" sz="2000" dirty="0"/>
          </a:p>
        </p:txBody>
      </p:sp>
      <p:sp>
        <p:nvSpPr>
          <p:cNvPr id="4" name="Stage 1 icon circle"/>
          <p:cNvSpPr/>
          <p:nvPr/>
        </p:nvSpPr>
        <p:spPr>
          <a:xfrm>
            <a:off x="640080" y="2606040"/>
            <a:ext cx="731520" cy="731520"/>
          </a:xfrm>
          <a:prstGeom prst="ellipse">
            <a:avLst/>
          </a:prstGeom>
          <a:solidFill>
            <a:schemeClr val="tx2"/>
          </a:solidFill>
          <a:ln w="12700">
            <a:solidFill>
              <a:schemeClr val="tx2"/>
            </a:solidFill>
            <a:prstDash val="solid"/>
          </a:ln>
        </p:spPr>
        <p:txBody>
          <a:bodyPr/>
          <a:lstStyle/>
          <a:p>
            <a:endParaRPr lang="en-US"/>
          </a:p>
        </p:txBody>
      </p:sp>
      <p:pic>
        <p:nvPicPr>
          <p:cNvPr id="5" name="Stage 1 icon" descr="Stage 1 icon"/>
          <p:cNvPicPr>
            <a:picLocks noChangeAspect="1"/>
          </p:cNvPicPr>
          <p:nvPr/>
        </p:nvPicPr>
        <p:blipFill>
          <a:blip r:embed="rId3"/>
          <a:stretch>
            <a:fillRect/>
          </a:stretch>
        </p:blipFill>
        <p:spPr>
          <a:xfrm>
            <a:off x="822960" y="2788920"/>
            <a:ext cx="365760" cy="365760"/>
          </a:xfrm>
          <a:prstGeom prst="rect">
            <a:avLst/>
          </a:prstGeom>
        </p:spPr>
      </p:pic>
      <p:sp>
        <p:nvSpPr>
          <p:cNvPr id="6" name="Text 3"/>
          <p:cNvSpPr txBox="1"/>
          <p:nvPr/>
        </p:nvSpPr>
        <p:spPr>
          <a:xfrm>
            <a:off x="640080" y="3474720"/>
            <a:ext cx="2377440" cy="1005840"/>
          </a:xfrm>
          <a:prstGeom prst="rect">
            <a:avLst/>
          </a:prstGeom>
          <a:noFill/>
          <a:ln/>
        </p:spPr>
        <p:txBody>
          <a:bodyPr wrap="square" lIns="0" tIns="0" rIns="0" bIns="0" rtlCol="0" anchor="t"/>
          <a:lstStyle/>
          <a:p>
            <a:pPr marL="0" indent="0">
              <a:buNone/>
            </a:pPr>
            <a:r>
              <a:rPr lang="en-US" sz="1600" dirty="0">
                <a:solidFill>
                  <a:schemeClr val="tx1"/>
                </a:solidFill>
              </a:rPr>
              <a:t>Warehouse users count stock with the Stockcount app</a:t>
            </a:r>
            <a:endParaRPr lang="en-US" sz="1600" dirty="0"/>
          </a:p>
        </p:txBody>
      </p:sp>
      <p:sp>
        <p:nvSpPr>
          <p:cNvPr id="7" name="Stage 2"/>
          <p:cNvSpPr txBox="1"/>
          <p:nvPr/>
        </p:nvSpPr>
        <p:spPr>
          <a:xfrm>
            <a:off x="2560320" y="1383030"/>
            <a:ext cx="1920240" cy="571500"/>
          </a:xfrm>
          <a:prstGeom prst="chevron">
            <a:avLst/>
          </a:prstGeom>
          <a:solidFill>
            <a:schemeClr val="accent3"/>
          </a:solidFill>
          <a:ln>
            <a:solidFill>
              <a:schemeClr val="accent3"/>
            </a:solidFill>
          </a:ln>
        </p:spPr>
        <p:txBody>
          <a:bodyPr wrap="square" rtlCol="0" anchor="ctr"/>
          <a:lstStyle/>
          <a:p>
            <a:pPr marL="0" indent="0" algn="ctr">
              <a:buNone/>
            </a:pPr>
            <a:r>
              <a:rPr lang="en-US" sz="2000" b="1" dirty="0">
                <a:solidFill>
                  <a:schemeClr val="bg1"/>
                </a:solidFill>
              </a:rPr>
              <a:t>Import</a:t>
            </a:r>
            <a:endParaRPr lang="en-US" sz="2000" dirty="0"/>
          </a:p>
        </p:txBody>
      </p:sp>
      <p:sp>
        <p:nvSpPr>
          <p:cNvPr id="8" name="Stage 2 icon circle"/>
          <p:cNvSpPr/>
          <p:nvPr/>
        </p:nvSpPr>
        <p:spPr>
          <a:xfrm>
            <a:off x="3337560" y="2606040"/>
            <a:ext cx="731520" cy="731520"/>
          </a:xfrm>
          <a:prstGeom prst="ellipse">
            <a:avLst/>
          </a:prstGeom>
          <a:solidFill>
            <a:schemeClr val="tx2"/>
          </a:solidFill>
          <a:ln w="12700">
            <a:solidFill>
              <a:schemeClr val="tx2"/>
            </a:solidFill>
            <a:prstDash val="solid"/>
          </a:ln>
        </p:spPr>
        <p:txBody>
          <a:bodyPr/>
          <a:lstStyle/>
          <a:p>
            <a:endParaRPr lang="en-US"/>
          </a:p>
        </p:txBody>
      </p:sp>
      <p:pic>
        <p:nvPicPr>
          <p:cNvPr id="9" name="Stage 2 icon" descr="Stage 2 icon"/>
          <p:cNvPicPr>
            <a:picLocks noChangeAspect="1"/>
          </p:cNvPicPr>
          <p:nvPr/>
        </p:nvPicPr>
        <p:blipFill>
          <a:blip r:embed="rId4"/>
          <a:stretch>
            <a:fillRect/>
          </a:stretch>
        </p:blipFill>
        <p:spPr>
          <a:xfrm>
            <a:off x="3520440" y="2788920"/>
            <a:ext cx="365760" cy="365760"/>
          </a:xfrm>
          <a:prstGeom prst="rect">
            <a:avLst/>
          </a:prstGeom>
        </p:spPr>
      </p:pic>
      <p:sp>
        <p:nvSpPr>
          <p:cNvPr id="10" name="Text 6"/>
          <p:cNvSpPr txBox="1"/>
          <p:nvPr/>
        </p:nvSpPr>
        <p:spPr>
          <a:xfrm>
            <a:off x="3337560" y="3474720"/>
            <a:ext cx="2377440" cy="1005840"/>
          </a:xfrm>
          <a:prstGeom prst="rect">
            <a:avLst/>
          </a:prstGeom>
          <a:noFill/>
          <a:ln/>
        </p:spPr>
        <p:txBody>
          <a:bodyPr wrap="square" lIns="0" tIns="0" rIns="0" bIns="0" rtlCol="0" anchor="t"/>
          <a:lstStyle/>
          <a:p>
            <a:pPr marL="0" indent="0">
              <a:buNone/>
            </a:pPr>
            <a:r>
              <a:rPr lang="en-US" sz="1600" dirty="0">
                <a:solidFill>
                  <a:schemeClr val="tx1"/>
                </a:solidFill>
              </a:rPr>
              <a:t>Download the data (CSV or Excel) and import it into Elixir</a:t>
            </a:r>
            <a:endParaRPr lang="en-US" sz="1600" dirty="0"/>
          </a:p>
        </p:txBody>
      </p:sp>
      <p:sp>
        <p:nvSpPr>
          <p:cNvPr id="11" name="Stage 3"/>
          <p:cNvSpPr txBox="1"/>
          <p:nvPr/>
        </p:nvSpPr>
        <p:spPr>
          <a:xfrm>
            <a:off x="4663440" y="1383030"/>
            <a:ext cx="1920240" cy="571500"/>
          </a:xfrm>
          <a:prstGeom prst="chevron">
            <a:avLst/>
          </a:prstGeom>
          <a:solidFill>
            <a:schemeClr val="accent3">
              <a:lumMod val="40000"/>
              <a:lumOff val="60000"/>
            </a:schemeClr>
          </a:solidFill>
          <a:ln>
            <a:solidFill>
              <a:schemeClr val="accent1"/>
            </a:solidFill>
          </a:ln>
        </p:spPr>
        <p:txBody>
          <a:bodyPr wrap="square" rtlCol="0" anchor="ctr"/>
          <a:lstStyle/>
          <a:p>
            <a:pPr marL="0" indent="0" algn="ctr">
              <a:buNone/>
            </a:pPr>
            <a:r>
              <a:rPr lang="en-US" sz="2000" b="1" dirty="0">
                <a:solidFill>
                  <a:schemeClr val="tx1"/>
                </a:solidFill>
              </a:rPr>
              <a:t>Review</a:t>
            </a:r>
            <a:endParaRPr lang="en-US" sz="2000" dirty="0"/>
          </a:p>
        </p:txBody>
      </p:sp>
      <p:sp>
        <p:nvSpPr>
          <p:cNvPr id="12" name="Stage 3 icon circle"/>
          <p:cNvSpPr/>
          <p:nvPr/>
        </p:nvSpPr>
        <p:spPr>
          <a:xfrm>
            <a:off x="6035040" y="2606040"/>
            <a:ext cx="731520" cy="731520"/>
          </a:xfrm>
          <a:prstGeom prst="ellipse">
            <a:avLst/>
          </a:prstGeom>
          <a:solidFill>
            <a:schemeClr val="tx2"/>
          </a:solidFill>
          <a:ln w="12700">
            <a:solidFill>
              <a:schemeClr val="tx2"/>
            </a:solidFill>
            <a:prstDash val="solid"/>
          </a:ln>
        </p:spPr>
        <p:txBody>
          <a:bodyPr/>
          <a:lstStyle/>
          <a:p>
            <a:endParaRPr lang="en-US"/>
          </a:p>
        </p:txBody>
      </p:sp>
      <p:pic>
        <p:nvPicPr>
          <p:cNvPr id="13" name="Stage 3 icon" descr="Stage 3 icon"/>
          <p:cNvPicPr>
            <a:picLocks noChangeAspect="1"/>
          </p:cNvPicPr>
          <p:nvPr/>
        </p:nvPicPr>
        <p:blipFill>
          <a:blip r:embed="rId5"/>
          <a:stretch>
            <a:fillRect/>
          </a:stretch>
        </p:blipFill>
        <p:spPr>
          <a:xfrm>
            <a:off x="6217920" y="2788920"/>
            <a:ext cx="365760" cy="365760"/>
          </a:xfrm>
          <a:prstGeom prst="rect">
            <a:avLst/>
          </a:prstGeom>
        </p:spPr>
      </p:pic>
      <p:sp>
        <p:nvSpPr>
          <p:cNvPr id="14" name="Text 9"/>
          <p:cNvSpPr txBox="1"/>
          <p:nvPr/>
        </p:nvSpPr>
        <p:spPr>
          <a:xfrm>
            <a:off x="6035040" y="3474720"/>
            <a:ext cx="2377440" cy="1005840"/>
          </a:xfrm>
          <a:prstGeom prst="rect">
            <a:avLst/>
          </a:prstGeom>
          <a:noFill/>
          <a:ln/>
        </p:spPr>
        <p:txBody>
          <a:bodyPr wrap="square" lIns="0" tIns="0" rIns="0" bIns="0" rtlCol="0" anchor="t"/>
          <a:lstStyle/>
          <a:p>
            <a:pPr marL="0" indent="0">
              <a:buNone/>
            </a:pPr>
            <a:r>
              <a:rPr lang="en-US" sz="1600" dirty="0">
                <a:solidFill>
                  <a:schemeClr val="tx1"/>
                </a:solidFill>
              </a:rPr>
              <a:t>Review the reports, then decide to adjust or receive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
        <p:nvSpPr>
          <p:cNvPr id="16" name="Stage 3">
            <a:extLst>
              <a:ext uri="{FF2B5EF4-FFF2-40B4-BE49-F238E27FC236}">
                <a16:creationId xmlns:a16="http://schemas.microsoft.com/office/drawing/2014/main" id="{DE89D5F0-0A2A-4329-2CA7-657B7161DE2A}"/>
              </a:ext>
            </a:extLst>
          </p:cNvPr>
          <p:cNvSpPr txBox="1"/>
          <p:nvPr/>
        </p:nvSpPr>
        <p:spPr>
          <a:xfrm>
            <a:off x="6664234" y="1383030"/>
            <a:ext cx="2068286" cy="571500"/>
          </a:xfrm>
          <a:prstGeom prst="chevron">
            <a:avLst/>
          </a:prstGeom>
          <a:solidFill>
            <a:schemeClr val="accent2">
              <a:lumMod val="20000"/>
              <a:lumOff val="80000"/>
            </a:schemeClr>
          </a:solidFill>
          <a:ln>
            <a:solidFill>
              <a:schemeClr val="accent2">
                <a:lumMod val="20000"/>
                <a:lumOff val="80000"/>
              </a:schemeClr>
            </a:solidFill>
          </a:ln>
        </p:spPr>
        <p:txBody>
          <a:bodyPr wrap="square" rtlCol="0" anchor="ctr"/>
          <a:lstStyle/>
          <a:p>
            <a:pPr marL="0" indent="0" algn="ctr">
              <a:buNone/>
            </a:pPr>
            <a:r>
              <a:rPr lang="en-US" sz="2000" b="1" dirty="0">
                <a:solidFill>
                  <a:schemeClr val="tx1"/>
                </a:solidFill>
              </a:rPr>
              <a:t> Adjust/ Receive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Before you start</a:t>
            </a:r>
            <a:endParaRPr lang="en-US" sz="3200" dirty="0"/>
          </a:p>
        </p:txBody>
      </p:sp>
      <p:sp>
        <p:nvSpPr>
          <p:cNvPr id="3" name="Row 1"/>
          <p:cNvSpPr/>
          <p:nvPr/>
        </p:nvSpPr>
        <p:spPr>
          <a:xfrm>
            <a:off x="457200" y="1188720"/>
            <a:ext cx="8229600" cy="603504"/>
          </a:xfrm>
          <a:prstGeom prst="roundRect">
            <a:avLst>
              <a:gd name="adj" fmla="val 15152"/>
            </a:avLst>
          </a:prstGeom>
          <a:solidFill>
            <a:schemeClr val="bg2"/>
          </a:solidFill>
          <a:ln w="12700">
            <a:solidFill>
              <a:schemeClr val="bg2"/>
            </a:solidFill>
            <a:prstDash val="solid"/>
          </a:ln>
        </p:spPr>
        <p:txBody>
          <a:bodyPr/>
          <a:lstStyle/>
          <a:p>
            <a:endParaRPr lang="en-US"/>
          </a:p>
        </p:txBody>
      </p:sp>
      <p:sp>
        <p:nvSpPr>
          <p:cNvPr id="4" name="Pre-requisite icon 1 circle"/>
          <p:cNvSpPr/>
          <p:nvPr/>
        </p:nvSpPr>
        <p:spPr>
          <a:xfrm>
            <a:off x="621792" y="1280160"/>
            <a:ext cx="420624" cy="420624"/>
          </a:xfrm>
          <a:prstGeom prst="ellipse">
            <a:avLst/>
          </a:prstGeom>
          <a:solidFill>
            <a:schemeClr val="tx2"/>
          </a:solidFill>
          <a:ln w="12700">
            <a:solidFill>
              <a:schemeClr val="tx2"/>
            </a:solidFill>
            <a:prstDash val="solid"/>
          </a:ln>
        </p:spPr>
        <p:txBody>
          <a:bodyPr/>
          <a:lstStyle/>
          <a:p>
            <a:endParaRPr lang="en-US"/>
          </a:p>
        </p:txBody>
      </p:sp>
      <p:pic>
        <p:nvPicPr>
          <p:cNvPr id="5" name="Pre-requisite icon 1" descr="Pre-requisite icon 1"/>
          <p:cNvPicPr>
            <a:picLocks noChangeAspect="1"/>
          </p:cNvPicPr>
          <p:nvPr/>
        </p:nvPicPr>
        <p:blipFill>
          <a:blip r:embed="rId3"/>
          <a:stretch>
            <a:fillRect/>
          </a:stretch>
        </p:blipFill>
        <p:spPr>
          <a:xfrm>
            <a:off x="726948" y="1385316"/>
            <a:ext cx="210312" cy="210312"/>
          </a:xfrm>
          <a:prstGeom prst="rect">
            <a:avLst/>
          </a:prstGeom>
        </p:spPr>
      </p:pic>
      <p:sp>
        <p:nvSpPr>
          <p:cNvPr id="6" name="Text 3"/>
          <p:cNvSpPr txBox="1"/>
          <p:nvPr/>
        </p:nvSpPr>
        <p:spPr>
          <a:xfrm>
            <a:off x="1280160" y="1188720"/>
            <a:ext cx="7223760" cy="603504"/>
          </a:xfrm>
          <a:prstGeom prst="rect">
            <a:avLst/>
          </a:prstGeom>
          <a:noFill/>
          <a:ln/>
        </p:spPr>
        <p:txBody>
          <a:bodyPr wrap="square" lIns="0" tIns="0" rIns="0" bIns="0" rtlCol="0" anchor="ctr"/>
          <a:lstStyle/>
          <a:p>
            <a:pPr marL="0" indent="0">
              <a:buNone/>
            </a:pPr>
            <a:r>
              <a:rPr lang="en-US" sz="1600" b="1" dirty="0">
                <a:solidFill>
                  <a:schemeClr val="tx2"/>
                </a:solidFill>
              </a:rPr>
              <a:t>Product master is up to date</a:t>
            </a:r>
            <a:endParaRPr lang="en-US" sz="1600" dirty="0"/>
          </a:p>
          <a:p>
            <a:pPr marL="0" indent="0">
              <a:buNone/>
            </a:pPr>
            <a:r>
              <a:rPr lang="en-US" sz="1400" dirty="0">
                <a:solidFill>
                  <a:schemeClr val="accent5"/>
                </a:solidFill>
              </a:rPr>
              <a:t>Count, product name and landed cost</a:t>
            </a:r>
            <a:endParaRPr lang="en-US" sz="1600" dirty="0"/>
          </a:p>
        </p:txBody>
      </p:sp>
      <p:sp>
        <p:nvSpPr>
          <p:cNvPr id="7" name="Row 2"/>
          <p:cNvSpPr/>
          <p:nvPr/>
        </p:nvSpPr>
        <p:spPr>
          <a:xfrm>
            <a:off x="457200" y="1865376"/>
            <a:ext cx="8229600" cy="603504"/>
          </a:xfrm>
          <a:prstGeom prst="roundRect">
            <a:avLst>
              <a:gd name="adj" fmla="val 15152"/>
            </a:avLst>
          </a:prstGeom>
          <a:solidFill>
            <a:schemeClr val="bg2"/>
          </a:solidFill>
          <a:ln w="12700">
            <a:solidFill>
              <a:schemeClr val="bg2"/>
            </a:solidFill>
            <a:prstDash val="solid"/>
          </a:ln>
        </p:spPr>
        <p:txBody>
          <a:bodyPr/>
          <a:lstStyle/>
          <a:p>
            <a:endParaRPr lang="en-US"/>
          </a:p>
        </p:txBody>
      </p:sp>
      <p:sp>
        <p:nvSpPr>
          <p:cNvPr id="8" name="Pre-requisite icon 2 circle"/>
          <p:cNvSpPr/>
          <p:nvPr/>
        </p:nvSpPr>
        <p:spPr>
          <a:xfrm>
            <a:off x="621792" y="1956816"/>
            <a:ext cx="420624" cy="420624"/>
          </a:xfrm>
          <a:prstGeom prst="ellipse">
            <a:avLst/>
          </a:prstGeom>
          <a:solidFill>
            <a:schemeClr val="tx2"/>
          </a:solidFill>
          <a:ln w="12700">
            <a:solidFill>
              <a:schemeClr val="tx2"/>
            </a:solidFill>
            <a:prstDash val="solid"/>
          </a:ln>
        </p:spPr>
        <p:txBody>
          <a:bodyPr/>
          <a:lstStyle/>
          <a:p>
            <a:endParaRPr lang="en-US"/>
          </a:p>
        </p:txBody>
      </p:sp>
      <p:pic>
        <p:nvPicPr>
          <p:cNvPr id="9" name="Pre-requisite icon 2" descr="Pre-requisite icon 2"/>
          <p:cNvPicPr>
            <a:picLocks noChangeAspect="1"/>
          </p:cNvPicPr>
          <p:nvPr/>
        </p:nvPicPr>
        <p:blipFill>
          <a:blip r:embed="rId4"/>
          <a:stretch>
            <a:fillRect/>
          </a:stretch>
        </p:blipFill>
        <p:spPr>
          <a:xfrm>
            <a:off x="726948" y="2061972"/>
            <a:ext cx="210312" cy="210312"/>
          </a:xfrm>
          <a:prstGeom prst="rect">
            <a:avLst/>
          </a:prstGeom>
        </p:spPr>
      </p:pic>
      <p:sp>
        <p:nvSpPr>
          <p:cNvPr id="10" name="Text 6"/>
          <p:cNvSpPr txBox="1"/>
          <p:nvPr/>
        </p:nvSpPr>
        <p:spPr>
          <a:xfrm>
            <a:off x="1280160" y="1865376"/>
            <a:ext cx="7223760" cy="603504"/>
          </a:xfrm>
          <a:prstGeom prst="rect">
            <a:avLst/>
          </a:prstGeom>
          <a:noFill/>
          <a:ln/>
        </p:spPr>
        <p:txBody>
          <a:bodyPr wrap="square" lIns="0" tIns="0" rIns="0" bIns="0" rtlCol="0" anchor="ctr"/>
          <a:lstStyle/>
          <a:p>
            <a:pPr marL="0" indent="0">
              <a:buNone/>
            </a:pPr>
            <a:r>
              <a:rPr lang="en-US" sz="1600" b="1" dirty="0">
                <a:solidFill>
                  <a:schemeClr val="tx2"/>
                </a:solidFill>
              </a:rPr>
              <a:t>Location areas and locations are up to date</a:t>
            </a:r>
            <a:endParaRPr lang="en-US" sz="1600" dirty="0"/>
          </a:p>
          <a:p>
            <a:pPr marL="0" indent="0">
              <a:buNone/>
            </a:pPr>
            <a:r>
              <a:rPr lang="en-US" sz="1400" dirty="0">
                <a:solidFill>
                  <a:schemeClr val="accent5"/>
                </a:solidFill>
              </a:rPr>
              <a:t>Check before counting begins</a:t>
            </a:r>
            <a:endParaRPr lang="en-US" sz="1600" dirty="0"/>
          </a:p>
        </p:txBody>
      </p:sp>
      <p:sp>
        <p:nvSpPr>
          <p:cNvPr id="11" name="Row 3"/>
          <p:cNvSpPr/>
          <p:nvPr/>
        </p:nvSpPr>
        <p:spPr>
          <a:xfrm>
            <a:off x="457200" y="2542032"/>
            <a:ext cx="8229600" cy="603504"/>
          </a:xfrm>
          <a:prstGeom prst="roundRect">
            <a:avLst>
              <a:gd name="adj" fmla="val 15152"/>
            </a:avLst>
          </a:prstGeom>
          <a:solidFill>
            <a:schemeClr val="bg2"/>
          </a:solidFill>
          <a:ln w="12700">
            <a:solidFill>
              <a:schemeClr val="bg2"/>
            </a:solidFill>
            <a:prstDash val="solid"/>
          </a:ln>
        </p:spPr>
        <p:txBody>
          <a:bodyPr/>
          <a:lstStyle/>
          <a:p>
            <a:endParaRPr lang="en-US"/>
          </a:p>
        </p:txBody>
      </p:sp>
      <p:sp>
        <p:nvSpPr>
          <p:cNvPr id="12" name="Pre-requisite icon 3 circle"/>
          <p:cNvSpPr/>
          <p:nvPr/>
        </p:nvSpPr>
        <p:spPr>
          <a:xfrm>
            <a:off x="621792" y="2633472"/>
            <a:ext cx="420624" cy="420624"/>
          </a:xfrm>
          <a:prstGeom prst="ellipse">
            <a:avLst/>
          </a:prstGeom>
          <a:solidFill>
            <a:schemeClr val="accent1"/>
          </a:solidFill>
          <a:ln w="12700">
            <a:solidFill>
              <a:schemeClr val="accent1"/>
            </a:solidFill>
            <a:prstDash val="solid"/>
          </a:ln>
        </p:spPr>
        <p:txBody>
          <a:bodyPr/>
          <a:lstStyle/>
          <a:p>
            <a:endParaRPr lang="en-US"/>
          </a:p>
        </p:txBody>
      </p:sp>
      <p:pic>
        <p:nvPicPr>
          <p:cNvPr id="13" name="Pre-requisite icon 3" descr="Pre-requisite icon 3"/>
          <p:cNvPicPr>
            <a:picLocks noChangeAspect="1"/>
          </p:cNvPicPr>
          <p:nvPr/>
        </p:nvPicPr>
        <p:blipFill>
          <a:blip r:embed="rId5"/>
          <a:stretch>
            <a:fillRect/>
          </a:stretch>
        </p:blipFill>
        <p:spPr>
          <a:xfrm>
            <a:off x="726948" y="2738628"/>
            <a:ext cx="210312" cy="210312"/>
          </a:xfrm>
          <a:prstGeom prst="rect">
            <a:avLst/>
          </a:prstGeom>
        </p:spPr>
      </p:pic>
      <p:sp>
        <p:nvSpPr>
          <p:cNvPr id="14" name="Text 9"/>
          <p:cNvSpPr txBox="1"/>
          <p:nvPr/>
        </p:nvSpPr>
        <p:spPr>
          <a:xfrm>
            <a:off x="1280160" y="2542032"/>
            <a:ext cx="7223760" cy="603504"/>
          </a:xfrm>
          <a:prstGeom prst="rect">
            <a:avLst/>
          </a:prstGeom>
          <a:noFill/>
          <a:ln/>
        </p:spPr>
        <p:txBody>
          <a:bodyPr wrap="square" lIns="0" tIns="0" rIns="0" bIns="0" rtlCol="0" anchor="ctr"/>
          <a:lstStyle/>
          <a:p>
            <a:pPr marL="0" indent="0">
              <a:buNone/>
            </a:pPr>
            <a:r>
              <a:rPr lang="en-US" sz="1600" b="1" dirty="0">
                <a:solidFill>
                  <a:schemeClr val="tx2"/>
                </a:solidFill>
              </a:rPr>
              <a:t>No master data changes while counting</a:t>
            </a:r>
            <a:endParaRPr lang="en-US" sz="1600" dirty="0"/>
          </a:p>
          <a:p>
            <a:pPr marL="0" indent="0">
              <a:buNone/>
            </a:pPr>
            <a:r>
              <a:rPr lang="en-US" sz="1400" dirty="0">
                <a:solidFill>
                  <a:schemeClr val="accent5"/>
                </a:solidFill>
              </a:rPr>
              <a:t>Cannot create products or locations, or update data, while inventory taking is in progress</a:t>
            </a:r>
            <a:endParaRPr lang="en-US" sz="1600" dirty="0"/>
          </a:p>
        </p:txBody>
      </p:sp>
      <p:sp>
        <p:nvSpPr>
          <p:cNvPr id="15" name="Row 4"/>
          <p:cNvSpPr/>
          <p:nvPr/>
        </p:nvSpPr>
        <p:spPr>
          <a:xfrm>
            <a:off x="457200" y="3218688"/>
            <a:ext cx="8229600" cy="603504"/>
          </a:xfrm>
          <a:prstGeom prst="roundRect">
            <a:avLst>
              <a:gd name="adj" fmla="val 15152"/>
            </a:avLst>
          </a:prstGeom>
          <a:solidFill>
            <a:schemeClr val="bg2"/>
          </a:solidFill>
          <a:ln w="12700">
            <a:solidFill>
              <a:schemeClr val="bg2"/>
            </a:solidFill>
            <a:prstDash val="solid"/>
          </a:ln>
        </p:spPr>
        <p:txBody>
          <a:bodyPr/>
          <a:lstStyle/>
          <a:p>
            <a:endParaRPr lang="en-US"/>
          </a:p>
        </p:txBody>
      </p:sp>
      <p:sp>
        <p:nvSpPr>
          <p:cNvPr id="16" name="Pre-requisite icon 4 circle"/>
          <p:cNvSpPr/>
          <p:nvPr/>
        </p:nvSpPr>
        <p:spPr>
          <a:xfrm>
            <a:off x="621792" y="3310128"/>
            <a:ext cx="420624" cy="420624"/>
          </a:xfrm>
          <a:prstGeom prst="ellipse">
            <a:avLst/>
          </a:prstGeom>
          <a:solidFill>
            <a:schemeClr val="tx2"/>
          </a:solidFill>
          <a:ln w="12700">
            <a:solidFill>
              <a:schemeClr val="tx2"/>
            </a:solidFill>
            <a:prstDash val="solid"/>
          </a:ln>
        </p:spPr>
        <p:txBody>
          <a:bodyPr/>
          <a:lstStyle/>
          <a:p>
            <a:endParaRPr lang="en-US"/>
          </a:p>
        </p:txBody>
      </p:sp>
      <p:pic>
        <p:nvPicPr>
          <p:cNvPr id="17" name="Pre-requisite icon 4" descr="Pre-requisite icon 4"/>
          <p:cNvPicPr>
            <a:picLocks noChangeAspect="1"/>
          </p:cNvPicPr>
          <p:nvPr/>
        </p:nvPicPr>
        <p:blipFill>
          <a:blip r:embed="rId6"/>
          <a:stretch>
            <a:fillRect/>
          </a:stretch>
        </p:blipFill>
        <p:spPr>
          <a:xfrm>
            <a:off x="726948" y="3415284"/>
            <a:ext cx="210312" cy="210312"/>
          </a:xfrm>
          <a:prstGeom prst="rect">
            <a:avLst/>
          </a:prstGeom>
        </p:spPr>
      </p:pic>
      <p:sp>
        <p:nvSpPr>
          <p:cNvPr id="18" name="Text 12"/>
          <p:cNvSpPr txBox="1"/>
          <p:nvPr/>
        </p:nvSpPr>
        <p:spPr>
          <a:xfrm>
            <a:off x="1280160" y="3218688"/>
            <a:ext cx="7223760" cy="603504"/>
          </a:xfrm>
          <a:prstGeom prst="rect">
            <a:avLst/>
          </a:prstGeom>
          <a:noFill/>
          <a:ln/>
        </p:spPr>
        <p:txBody>
          <a:bodyPr wrap="square" lIns="0" tIns="0" rIns="0" bIns="0" rtlCol="0" anchor="ctr"/>
          <a:lstStyle/>
          <a:p>
            <a:pPr marL="0" indent="0">
              <a:buNone/>
            </a:pPr>
            <a:r>
              <a:rPr lang="en-US" sz="1600" b="1" dirty="0">
                <a:solidFill>
                  <a:schemeClr val="tx2"/>
                </a:solidFill>
              </a:rPr>
              <a:t>Bins (locations) are allocated to users</a:t>
            </a:r>
            <a:endParaRPr lang="en-US" sz="1600" dirty="0"/>
          </a:p>
          <a:p>
            <a:pPr marL="0" indent="0">
              <a:buNone/>
            </a:pPr>
            <a:r>
              <a:rPr lang="en-US" sz="1400" dirty="0">
                <a:solidFill>
                  <a:schemeClr val="accent5"/>
                </a:solidFill>
              </a:rPr>
              <a:t>Each bin is assigned to a counting user</a:t>
            </a:r>
            <a:endParaRPr lang="en-US" sz="1600" dirty="0"/>
          </a:p>
        </p:txBody>
      </p:sp>
      <p:sp>
        <p:nvSpPr>
          <p:cNvPr id="19" name="Row 5"/>
          <p:cNvSpPr/>
          <p:nvPr/>
        </p:nvSpPr>
        <p:spPr>
          <a:xfrm>
            <a:off x="457200" y="3895344"/>
            <a:ext cx="8229600" cy="603504"/>
          </a:xfrm>
          <a:prstGeom prst="roundRect">
            <a:avLst>
              <a:gd name="adj" fmla="val 15152"/>
            </a:avLst>
          </a:prstGeom>
          <a:solidFill>
            <a:schemeClr val="bg2"/>
          </a:solidFill>
          <a:ln w="12700">
            <a:solidFill>
              <a:schemeClr val="bg2"/>
            </a:solidFill>
            <a:prstDash val="solid"/>
          </a:ln>
        </p:spPr>
        <p:txBody>
          <a:bodyPr/>
          <a:lstStyle/>
          <a:p>
            <a:endParaRPr lang="en-US"/>
          </a:p>
        </p:txBody>
      </p:sp>
      <p:sp>
        <p:nvSpPr>
          <p:cNvPr id="20" name="Pre-requisite icon 5 circle"/>
          <p:cNvSpPr/>
          <p:nvPr/>
        </p:nvSpPr>
        <p:spPr>
          <a:xfrm>
            <a:off x="621792" y="3986784"/>
            <a:ext cx="420624" cy="420624"/>
          </a:xfrm>
          <a:prstGeom prst="ellipse">
            <a:avLst/>
          </a:prstGeom>
          <a:solidFill>
            <a:schemeClr val="tx2"/>
          </a:solidFill>
          <a:ln w="12700">
            <a:solidFill>
              <a:schemeClr val="tx2"/>
            </a:solidFill>
            <a:prstDash val="solid"/>
          </a:ln>
        </p:spPr>
        <p:txBody>
          <a:bodyPr/>
          <a:lstStyle/>
          <a:p>
            <a:endParaRPr lang="en-US"/>
          </a:p>
        </p:txBody>
      </p:sp>
      <p:pic>
        <p:nvPicPr>
          <p:cNvPr id="21" name="Pre-requisite icon 5" descr="Pre-requisite icon 5"/>
          <p:cNvPicPr>
            <a:picLocks noChangeAspect="1"/>
          </p:cNvPicPr>
          <p:nvPr/>
        </p:nvPicPr>
        <p:blipFill>
          <a:blip r:embed="rId7"/>
          <a:stretch>
            <a:fillRect/>
          </a:stretch>
        </p:blipFill>
        <p:spPr>
          <a:xfrm>
            <a:off x="726948" y="4091940"/>
            <a:ext cx="210312" cy="210312"/>
          </a:xfrm>
          <a:prstGeom prst="rect">
            <a:avLst/>
          </a:prstGeom>
        </p:spPr>
      </p:pic>
      <p:sp>
        <p:nvSpPr>
          <p:cNvPr id="22" name="Text 15"/>
          <p:cNvSpPr txBox="1"/>
          <p:nvPr/>
        </p:nvSpPr>
        <p:spPr>
          <a:xfrm>
            <a:off x="1280160" y="3895344"/>
            <a:ext cx="7223760" cy="603504"/>
          </a:xfrm>
          <a:prstGeom prst="rect">
            <a:avLst/>
          </a:prstGeom>
          <a:noFill/>
          <a:ln/>
        </p:spPr>
        <p:txBody>
          <a:bodyPr wrap="square" lIns="0" tIns="0" rIns="0" bIns="0" rtlCol="0" anchor="ctr"/>
          <a:lstStyle/>
          <a:p>
            <a:pPr marL="0" indent="0">
              <a:buNone/>
            </a:pPr>
            <a:r>
              <a:rPr lang="en-US" sz="1600" b="1" dirty="0">
                <a:solidFill>
                  <a:schemeClr val="tx2"/>
                </a:solidFill>
              </a:rPr>
              <a:t>Credentials are created for counting users</a:t>
            </a:r>
            <a:endParaRPr lang="en-US" sz="1600" dirty="0"/>
          </a:p>
          <a:p>
            <a:pPr marL="0" indent="0">
              <a:buNone/>
            </a:pPr>
            <a:r>
              <a:rPr lang="en-US" sz="1400" dirty="0">
                <a:solidFill>
                  <a:schemeClr val="accent5"/>
                </a:solidFill>
              </a:rPr>
              <a:t>For the users who will take inventory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Process flow</a:t>
            </a:r>
            <a:endParaRPr lang="en-US" sz="3200" dirty="0"/>
          </a:p>
        </p:txBody>
      </p:sp>
      <p:sp>
        <p:nvSpPr>
          <p:cNvPr id="3" name="Flow connector"/>
          <p:cNvSpPr/>
          <p:nvPr/>
        </p:nvSpPr>
        <p:spPr>
          <a:xfrm>
            <a:off x="1234439" y="1645920"/>
            <a:ext cx="6453052" cy="0"/>
          </a:xfrm>
          <a:prstGeom prst="line">
            <a:avLst/>
          </a:prstGeom>
          <a:noFill/>
          <a:ln w="38100">
            <a:solidFill>
              <a:schemeClr val="accent6"/>
            </a:solidFill>
            <a:prstDash val="solid"/>
          </a:ln>
        </p:spPr>
        <p:txBody>
          <a:bodyPr/>
          <a:lstStyle/>
          <a:p>
            <a:endParaRPr lang="en-US"/>
          </a:p>
        </p:txBody>
      </p:sp>
      <p:sp>
        <p:nvSpPr>
          <p:cNvPr id="4" name="Step card 1"/>
          <p:cNvSpPr/>
          <p:nvPr/>
        </p:nvSpPr>
        <p:spPr>
          <a:xfrm>
            <a:off x="457200" y="2103120"/>
            <a:ext cx="1554480" cy="2377440"/>
          </a:xfrm>
          <a:prstGeom prst="roundRect">
            <a:avLst>
              <a:gd name="adj" fmla="val 5882"/>
            </a:avLst>
          </a:prstGeom>
          <a:solidFill>
            <a:schemeClr val="bg2"/>
          </a:solidFill>
          <a:ln w="12700">
            <a:solidFill>
              <a:schemeClr val="bg2"/>
            </a:solidFill>
            <a:prstDash val="solid"/>
          </a:ln>
        </p:spPr>
        <p:txBody>
          <a:bodyPr/>
          <a:lstStyle/>
          <a:p>
            <a:endParaRPr lang="en-US"/>
          </a:p>
        </p:txBody>
      </p:sp>
      <p:sp>
        <p:nvSpPr>
          <p:cNvPr id="5" name="Step number 1"/>
          <p:cNvSpPr txBox="1"/>
          <p:nvPr/>
        </p:nvSpPr>
        <p:spPr>
          <a:xfrm>
            <a:off x="914400" y="132588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6" name="Text 4"/>
          <p:cNvSpPr txBox="1"/>
          <p:nvPr/>
        </p:nvSpPr>
        <p:spPr>
          <a:xfrm>
            <a:off x="594360" y="2240280"/>
            <a:ext cx="1280160" cy="365760"/>
          </a:xfrm>
          <a:prstGeom prst="rect">
            <a:avLst/>
          </a:prstGeom>
          <a:noFill/>
          <a:ln/>
        </p:spPr>
        <p:txBody>
          <a:bodyPr wrap="square" lIns="0" tIns="0" rIns="0" bIns="0" rtlCol="0" anchor="t"/>
          <a:lstStyle/>
          <a:p>
            <a:pPr marL="0" indent="0">
              <a:buNone/>
            </a:pPr>
            <a:r>
              <a:rPr lang="en-US" sz="1400" b="1" dirty="0">
                <a:solidFill>
                  <a:schemeClr val="tx2"/>
                </a:solidFill>
              </a:rPr>
              <a:t>Count</a:t>
            </a:r>
            <a:endParaRPr lang="en-US" sz="1400" dirty="0"/>
          </a:p>
        </p:txBody>
      </p:sp>
      <p:sp>
        <p:nvSpPr>
          <p:cNvPr id="7" name="Text 5"/>
          <p:cNvSpPr txBox="1"/>
          <p:nvPr/>
        </p:nvSpPr>
        <p:spPr>
          <a:xfrm>
            <a:off x="594360" y="2926080"/>
            <a:ext cx="1280160" cy="1691640"/>
          </a:xfrm>
          <a:prstGeom prst="rect">
            <a:avLst/>
          </a:prstGeom>
          <a:noFill/>
          <a:ln/>
        </p:spPr>
        <p:txBody>
          <a:bodyPr wrap="square" lIns="0" tIns="0" rIns="0" bIns="0" rtlCol="0" anchor="t"/>
          <a:lstStyle/>
          <a:p>
            <a:pPr marL="0" indent="0">
              <a:buNone/>
            </a:pPr>
            <a:r>
              <a:rPr lang="en-US" sz="1400" dirty="0">
                <a:solidFill>
                  <a:schemeClr val="tx1"/>
                </a:solidFill>
              </a:rPr>
              <a:t>Users count in the warehouse with the </a:t>
            </a:r>
            <a:r>
              <a:rPr lang="en-US" sz="1400" b="1" dirty="0">
                <a:solidFill>
                  <a:schemeClr val="tx1"/>
                </a:solidFill>
              </a:rPr>
              <a:t>Stockcount app</a:t>
            </a:r>
            <a:endParaRPr lang="en-US" sz="1400" b="1" dirty="0"/>
          </a:p>
        </p:txBody>
      </p:sp>
      <p:sp>
        <p:nvSpPr>
          <p:cNvPr id="8" name="Step card 2"/>
          <p:cNvSpPr/>
          <p:nvPr/>
        </p:nvSpPr>
        <p:spPr>
          <a:xfrm>
            <a:off x="2125980" y="2103120"/>
            <a:ext cx="1554480" cy="2377440"/>
          </a:xfrm>
          <a:prstGeom prst="roundRect">
            <a:avLst>
              <a:gd name="adj" fmla="val 5882"/>
            </a:avLst>
          </a:prstGeom>
          <a:solidFill>
            <a:schemeClr val="bg2"/>
          </a:solidFill>
          <a:ln w="12700">
            <a:solidFill>
              <a:schemeClr val="bg2"/>
            </a:solidFill>
            <a:prstDash val="solid"/>
          </a:ln>
        </p:spPr>
        <p:txBody>
          <a:bodyPr/>
          <a:lstStyle/>
          <a:p>
            <a:endParaRPr lang="en-US"/>
          </a:p>
        </p:txBody>
      </p:sp>
      <p:sp>
        <p:nvSpPr>
          <p:cNvPr id="9" name="Step number 2"/>
          <p:cNvSpPr txBox="1"/>
          <p:nvPr/>
        </p:nvSpPr>
        <p:spPr>
          <a:xfrm>
            <a:off x="2583180" y="132588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10" name="Text 8"/>
          <p:cNvSpPr txBox="1"/>
          <p:nvPr/>
        </p:nvSpPr>
        <p:spPr>
          <a:xfrm>
            <a:off x="2263140" y="2240280"/>
            <a:ext cx="1280160" cy="365760"/>
          </a:xfrm>
          <a:prstGeom prst="rect">
            <a:avLst/>
          </a:prstGeom>
          <a:noFill/>
          <a:ln/>
        </p:spPr>
        <p:txBody>
          <a:bodyPr wrap="square" lIns="0" tIns="0" rIns="0" bIns="0" rtlCol="0" anchor="t"/>
          <a:lstStyle/>
          <a:p>
            <a:pPr marL="0" indent="0">
              <a:buNone/>
            </a:pPr>
            <a:r>
              <a:rPr lang="en-US" sz="1400" b="1" dirty="0">
                <a:solidFill>
                  <a:schemeClr val="tx2"/>
                </a:solidFill>
              </a:rPr>
              <a:t>Download</a:t>
            </a:r>
            <a:endParaRPr lang="en-US" sz="1400" dirty="0"/>
          </a:p>
        </p:txBody>
      </p:sp>
      <p:sp>
        <p:nvSpPr>
          <p:cNvPr id="11" name="Text 9"/>
          <p:cNvSpPr txBox="1"/>
          <p:nvPr/>
        </p:nvSpPr>
        <p:spPr>
          <a:xfrm>
            <a:off x="2263140" y="2926080"/>
            <a:ext cx="1280160" cy="1038497"/>
          </a:xfrm>
          <a:prstGeom prst="rect">
            <a:avLst/>
          </a:prstGeom>
          <a:noFill/>
          <a:ln/>
        </p:spPr>
        <p:txBody>
          <a:bodyPr wrap="square" lIns="0" tIns="0" rIns="0" bIns="0" rtlCol="0" anchor="t"/>
          <a:lstStyle/>
          <a:p>
            <a:pPr marL="0" indent="0">
              <a:buNone/>
            </a:pPr>
            <a:r>
              <a:rPr lang="en-US" sz="1400" dirty="0">
                <a:solidFill>
                  <a:schemeClr val="tx1"/>
                </a:solidFill>
              </a:rPr>
              <a:t>After </a:t>
            </a:r>
            <a:r>
              <a:rPr lang="en-US" sz="1400" b="1" dirty="0">
                <a:solidFill>
                  <a:schemeClr val="tx1"/>
                </a:solidFill>
              </a:rPr>
              <a:t>FINISH</a:t>
            </a:r>
            <a:r>
              <a:rPr lang="en-US" sz="1400" dirty="0">
                <a:solidFill>
                  <a:schemeClr val="tx1"/>
                </a:solidFill>
              </a:rPr>
              <a:t>, download CSV. </a:t>
            </a:r>
            <a:endParaRPr lang="en-US" sz="1400" dirty="0"/>
          </a:p>
        </p:txBody>
      </p:sp>
      <p:sp>
        <p:nvSpPr>
          <p:cNvPr id="12" name="Step card 3"/>
          <p:cNvSpPr/>
          <p:nvPr/>
        </p:nvSpPr>
        <p:spPr>
          <a:xfrm>
            <a:off x="3794760" y="2103120"/>
            <a:ext cx="1554480" cy="2377440"/>
          </a:xfrm>
          <a:prstGeom prst="roundRect">
            <a:avLst>
              <a:gd name="adj" fmla="val 5882"/>
            </a:avLst>
          </a:prstGeom>
          <a:solidFill>
            <a:schemeClr val="bg2"/>
          </a:solidFill>
          <a:ln w="12700">
            <a:solidFill>
              <a:schemeClr val="bg2"/>
            </a:solidFill>
            <a:prstDash val="solid"/>
          </a:ln>
        </p:spPr>
        <p:txBody>
          <a:bodyPr/>
          <a:lstStyle/>
          <a:p>
            <a:endParaRPr lang="en-US"/>
          </a:p>
        </p:txBody>
      </p:sp>
      <p:sp>
        <p:nvSpPr>
          <p:cNvPr id="13" name="Step number 3"/>
          <p:cNvSpPr txBox="1"/>
          <p:nvPr/>
        </p:nvSpPr>
        <p:spPr>
          <a:xfrm>
            <a:off x="4251960" y="132588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4" name="Text 12"/>
          <p:cNvSpPr txBox="1"/>
          <p:nvPr/>
        </p:nvSpPr>
        <p:spPr>
          <a:xfrm>
            <a:off x="3931920" y="2240280"/>
            <a:ext cx="1280160" cy="365760"/>
          </a:xfrm>
          <a:prstGeom prst="rect">
            <a:avLst/>
          </a:prstGeom>
          <a:noFill/>
          <a:ln/>
        </p:spPr>
        <p:txBody>
          <a:bodyPr wrap="square" lIns="0" tIns="0" rIns="0" bIns="0" rtlCol="0" anchor="t"/>
          <a:lstStyle/>
          <a:p>
            <a:pPr marL="0" indent="0">
              <a:buNone/>
            </a:pPr>
            <a:r>
              <a:rPr lang="en-US" sz="1400" b="1" dirty="0">
                <a:solidFill>
                  <a:schemeClr val="tx2"/>
                </a:solidFill>
              </a:rPr>
              <a:t>Import &amp; Get </a:t>
            </a:r>
            <a:r>
              <a:rPr lang="en-US" sz="1400" b="1" dirty="0" err="1">
                <a:solidFill>
                  <a:schemeClr val="tx2"/>
                </a:solidFill>
              </a:rPr>
              <a:t>Stockcount</a:t>
            </a:r>
            <a:r>
              <a:rPr lang="en-US" sz="1400" b="1" dirty="0">
                <a:solidFill>
                  <a:schemeClr val="tx2"/>
                </a:solidFill>
              </a:rPr>
              <a:t> Report</a:t>
            </a:r>
            <a:endParaRPr lang="en-US" sz="1400" dirty="0"/>
          </a:p>
        </p:txBody>
      </p:sp>
      <p:sp>
        <p:nvSpPr>
          <p:cNvPr id="15" name="Text 13"/>
          <p:cNvSpPr txBox="1"/>
          <p:nvPr/>
        </p:nvSpPr>
        <p:spPr>
          <a:xfrm>
            <a:off x="3931920" y="2926080"/>
            <a:ext cx="1280160" cy="1691640"/>
          </a:xfrm>
          <a:prstGeom prst="rect">
            <a:avLst/>
          </a:prstGeom>
          <a:noFill/>
          <a:ln/>
        </p:spPr>
        <p:txBody>
          <a:bodyPr wrap="square" lIns="0" tIns="0" rIns="0" bIns="0" rtlCol="0" anchor="t"/>
          <a:lstStyle/>
          <a:p>
            <a:pPr marL="0" indent="0">
              <a:buNone/>
            </a:pPr>
            <a:r>
              <a:rPr lang="en-US" sz="1400" dirty="0">
                <a:solidFill>
                  <a:schemeClr val="tx1"/>
                </a:solidFill>
              </a:rPr>
              <a:t>Import the Excel file into Elixir. </a:t>
            </a:r>
            <a:br>
              <a:rPr lang="en-US" sz="1400" dirty="0">
                <a:solidFill>
                  <a:schemeClr val="tx1"/>
                </a:solidFill>
              </a:rPr>
            </a:br>
            <a:r>
              <a:rPr lang="en-US" sz="1050" dirty="0">
                <a:solidFill>
                  <a:schemeClr val="tx1"/>
                </a:solidFill>
              </a:rPr>
              <a:t>Goto WMS-&gt; Import/Export -&gt; Import -&gt; </a:t>
            </a:r>
            <a:r>
              <a:rPr lang="en-US" sz="1050" dirty="0" err="1">
                <a:solidFill>
                  <a:schemeClr val="tx1"/>
                </a:solidFill>
              </a:rPr>
              <a:t>Stockcount</a:t>
            </a:r>
            <a:r>
              <a:rPr lang="en-US" sz="1050" dirty="0">
                <a:solidFill>
                  <a:schemeClr val="tx1"/>
                </a:solidFill>
              </a:rPr>
              <a:t> Import</a:t>
            </a:r>
            <a:endParaRPr lang="en-US" sz="1050" dirty="0"/>
          </a:p>
        </p:txBody>
      </p:sp>
      <p:sp>
        <p:nvSpPr>
          <p:cNvPr id="16" name="Step card 4"/>
          <p:cNvSpPr/>
          <p:nvPr/>
        </p:nvSpPr>
        <p:spPr>
          <a:xfrm>
            <a:off x="5463540" y="2103120"/>
            <a:ext cx="1554480" cy="2377440"/>
          </a:xfrm>
          <a:prstGeom prst="roundRect">
            <a:avLst>
              <a:gd name="adj" fmla="val 5882"/>
            </a:avLst>
          </a:prstGeom>
          <a:solidFill>
            <a:schemeClr val="bg2"/>
          </a:solidFill>
          <a:ln w="12700">
            <a:solidFill>
              <a:schemeClr val="bg2"/>
            </a:solidFill>
            <a:prstDash val="solid"/>
          </a:ln>
        </p:spPr>
        <p:txBody>
          <a:bodyPr/>
          <a:lstStyle/>
          <a:p>
            <a:endParaRPr lang="en-US"/>
          </a:p>
        </p:txBody>
      </p:sp>
      <p:sp>
        <p:nvSpPr>
          <p:cNvPr id="17" name="Step number 4"/>
          <p:cNvSpPr txBox="1"/>
          <p:nvPr/>
        </p:nvSpPr>
        <p:spPr>
          <a:xfrm>
            <a:off x="5920740" y="132588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4</a:t>
            </a:r>
            <a:endParaRPr lang="en-US" sz="2200" dirty="0"/>
          </a:p>
        </p:txBody>
      </p:sp>
      <p:sp>
        <p:nvSpPr>
          <p:cNvPr id="18" name="Text 16"/>
          <p:cNvSpPr txBox="1"/>
          <p:nvPr/>
        </p:nvSpPr>
        <p:spPr>
          <a:xfrm>
            <a:off x="5600700" y="2240280"/>
            <a:ext cx="1280160" cy="365760"/>
          </a:xfrm>
          <a:prstGeom prst="rect">
            <a:avLst/>
          </a:prstGeom>
          <a:noFill/>
          <a:ln/>
        </p:spPr>
        <p:txBody>
          <a:bodyPr wrap="square" lIns="0" tIns="0" rIns="0" bIns="0" rtlCol="0" anchor="t"/>
          <a:lstStyle/>
          <a:p>
            <a:pPr marL="0" indent="0">
              <a:buNone/>
            </a:pPr>
            <a:r>
              <a:rPr lang="en-US" sz="1400" b="1" dirty="0">
                <a:solidFill>
                  <a:schemeClr val="tx2"/>
                </a:solidFill>
              </a:rPr>
              <a:t>Extract </a:t>
            </a:r>
            <a:r>
              <a:rPr lang="en-US" sz="1400" b="1" dirty="0" err="1">
                <a:solidFill>
                  <a:schemeClr val="tx2"/>
                </a:solidFill>
              </a:rPr>
              <a:t>Stockcount</a:t>
            </a:r>
            <a:r>
              <a:rPr lang="en-US" sz="1400" b="1" dirty="0">
                <a:solidFill>
                  <a:schemeClr val="tx2"/>
                </a:solidFill>
              </a:rPr>
              <a:t> report</a:t>
            </a:r>
            <a:endParaRPr lang="en-US" sz="1400" dirty="0"/>
          </a:p>
        </p:txBody>
      </p:sp>
      <p:sp>
        <p:nvSpPr>
          <p:cNvPr id="19" name="Text 17"/>
          <p:cNvSpPr txBox="1"/>
          <p:nvPr/>
        </p:nvSpPr>
        <p:spPr>
          <a:xfrm>
            <a:off x="5600700" y="2926080"/>
            <a:ext cx="1280160" cy="1397726"/>
          </a:xfrm>
          <a:prstGeom prst="rect">
            <a:avLst/>
          </a:prstGeom>
          <a:noFill/>
          <a:ln/>
        </p:spPr>
        <p:txBody>
          <a:bodyPr wrap="square" lIns="0" tIns="0" rIns="0" bIns="0" rtlCol="0" anchor="t"/>
          <a:lstStyle/>
          <a:p>
            <a:pPr marL="0" indent="0">
              <a:buNone/>
            </a:pPr>
            <a:r>
              <a:rPr lang="en-US" sz="1400" dirty="0">
                <a:solidFill>
                  <a:schemeClr val="tx1"/>
                </a:solidFill>
              </a:rPr>
              <a:t>This report will provide data that has been imported in Elixir for verification purposes</a:t>
            </a:r>
            <a:endParaRPr lang="en-US" sz="1400" dirty="0"/>
          </a:p>
        </p:txBody>
      </p:sp>
      <p:sp>
        <p:nvSpPr>
          <p:cNvPr id="20" name="Step card 5"/>
          <p:cNvSpPr/>
          <p:nvPr/>
        </p:nvSpPr>
        <p:spPr>
          <a:xfrm>
            <a:off x="7132320" y="2103120"/>
            <a:ext cx="1554480" cy="2377440"/>
          </a:xfrm>
          <a:prstGeom prst="roundRect">
            <a:avLst>
              <a:gd name="adj" fmla="val 5882"/>
            </a:avLst>
          </a:prstGeom>
          <a:solidFill>
            <a:schemeClr val="bg2"/>
          </a:solidFill>
          <a:ln w="12700">
            <a:solidFill>
              <a:schemeClr val="bg2"/>
            </a:solidFill>
            <a:prstDash val="solid"/>
          </a:ln>
        </p:spPr>
        <p:txBody>
          <a:bodyPr/>
          <a:lstStyle/>
          <a:p>
            <a:endParaRPr lang="en-US"/>
          </a:p>
        </p:txBody>
      </p:sp>
      <p:sp>
        <p:nvSpPr>
          <p:cNvPr id="22" name="Text 20"/>
          <p:cNvSpPr txBox="1"/>
          <p:nvPr/>
        </p:nvSpPr>
        <p:spPr>
          <a:xfrm>
            <a:off x="7269480" y="2240280"/>
            <a:ext cx="1280160" cy="365760"/>
          </a:xfrm>
          <a:prstGeom prst="rect">
            <a:avLst/>
          </a:prstGeom>
          <a:noFill/>
          <a:ln/>
        </p:spPr>
        <p:txBody>
          <a:bodyPr wrap="square" lIns="0" tIns="0" rIns="0" bIns="0" rtlCol="0" anchor="t"/>
          <a:lstStyle/>
          <a:p>
            <a:pPr marL="0" indent="0">
              <a:buNone/>
            </a:pPr>
            <a:r>
              <a:rPr lang="en-US" sz="1400" b="1" dirty="0">
                <a:solidFill>
                  <a:schemeClr val="tx2"/>
                </a:solidFill>
              </a:rPr>
              <a:t>Extract </a:t>
            </a:r>
            <a:r>
              <a:rPr lang="en-US" sz="1400" b="1" dirty="0" err="1">
                <a:solidFill>
                  <a:schemeClr val="tx2"/>
                </a:solidFill>
              </a:rPr>
              <a:t>Stockcount</a:t>
            </a:r>
            <a:r>
              <a:rPr lang="en-US" sz="1400" b="1" dirty="0">
                <a:solidFill>
                  <a:schemeClr val="tx2"/>
                </a:solidFill>
              </a:rPr>
              <a:t> Inventory Adj download</a:t>
            </a:r>
            <a:endParaRPr lang="en-US" sz="1400" dirty="0"/>
          </a:p>
        </p:txBody>
      </p:sp>
      <p:sp>
        <p:nvSpPr>
          <p:cNvPr id="23" name="Text 21"/>
          <p:cNvSpPr txBox="1"/>
          <p:nvPr/>
        </p:nvSpPr>
        <p:spPr>
          <a:xfrm>
            <a:off x="7269480" y="3148149"/>
            <a:ext cx="1280160" cy="1247502"/>
          </a:xfrm>
          <a:prstGeom prst="rect">
            <a:avLst/>
          </a:prstGeom>
          <a:noFill/>
          <a:ln/>
        </p:spPr>
        <p:txBody>
          <a:bodyPr wrap="square" lIns="0" tIns="0" rIns="0" bIns="0" rtlCol="0" anchor="t"/>
          <a:lstStyle/>
          <a:p>
            <a:pPr marL="0" indent="0">
              <a:buNone/>
            </a:pPr>
            <a:r>
              <a:rPr lang="en-US" sz="1400" dirty="0">
                <a:solidFill>
                  <a:schemeClr val="tx1"/>
                </a:solidFill>
              </a:rPr>
              <a:t>This report will give data from Elixir and </a:t>
            </a:r>
            <a:r>
              <a:rPr lang="en-US" sz="1400" dirty="0" err="1">
                <a:solidFill>
                  <a:schemeClr val="tx1"/>
                </a:solidFill>
              </a:rPr>
              <a:t>Stockcount</a:t>
            </a:r>
            <a:r>
              <a:rPr lang="en-US" sz="1400" dirty="0">
                <a:solidFill>
                  <a:schemeClr val="tx1"/>
                </a:solidFill>
              </a:rPr>
              <a:t> to decide adjustment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26" name="Step number 4">
            <a:extLst>
              <a:ext uri="{FF2B5EF4-FFF2-40B4-BE49-F238E27FC236}">
                <a16:creationId xmlns:a16="http://schemas.microsoft.com/office/drawing/2014/main" id="{D434CDBB-63A8-A0B9-4371-DC9D97BA1C69}"/>
              </a:ext>
            </a:extLst>
          </p:cNvPr>
          <p:cNvSpPr txBox="1"/>
          <p:nvPr/>
        </p:nvSpPr>
        <p:spPr>
          <a:xfrm>
            <a:off x="7464334" y="132588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200" b="1" dirty="0"/>
              <a:t>5</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New reports for Adjustm</a:t>
            </a:r>
            <a:r>
              <a:rPr lang="en-US" dirty="0"/>
              <a:t>ent</a:t>
            </a:r>
            <a:endParaRPr lang="en-US" sz="3200" dirty="0"/>
          </a:p>
        </p:txBody>
      </p:sp>
      <p:sp>
        <p:nvSpPr>
          <p:cNvPr id="3" name="Report name 1"/>
          <p:cNvSpPr txBox="1"/>
          <p:nvPr/>
        </p:nvSpPr>
        <p:spPr>
          <a:xfrm>
            <a:off x="457200" y="1188720"/>
            <a:ext cx="3200400" cy="603504"/>
          </a:xfrm>
          <a:prstGeom prst="rect">
            <a:avLst/>
          </a:prstGeom>
          <a:solidFill>
            <a:schemeClr val="tx2"/>
          </a:solidFill>
          <a:ln>
            <a:solidFill>
              <a:schemeClr val="tx2"/>
            </a:solidFill>
          </a:ln>
        </p:spPr>
        <p:txBody>
          <a:bodyPr wrap="square" lIns="139700" tIns="139700" rIns="139700" bIns="139700" rtlCol="0" anchor="ctr"/>
          <a:lstStyle/>
          <a:p>
            <a:pPr marL="0" indent="0">
              <a:buNone/>
            </a:pPr>
            <a:r>
              <a:rPr lang="en-US" sz="1400" b="1" dirty="0">
                <a:solidFill>
                  <a:schemeClr val="bg1"/>
                </a:solidFill>
              </a:rPr>
              <a:t>Stockcount Report</a:t>
            </a:r>
            <a:endParaRPr lang="en-US" sz="1400" dirty="0"/>
          </a:p>
        </p:txBody>
      </p:sp>
      <p:sp>
        <p:nvSpPr>
          <p:cNvPr id="4" name="Report description 1"/>
          <p:cNvSpPr txBox="1"/>
          <p:nvPr/>
        </p:nvSpPr>
        <p:spPr>
          <a:xfrm>
            <a:off x="3657600" y="1188720"/>
            <a:ext cx="5029200" cy="603504"/>
          </a:xfrm>
          <a:prstGeom prst="rect">
            <a:avLst/>
          </a:prstGeom>
          <a:solidFill>
            <a:schemeClr val="bg2"/>
          </a:solidFill>
          <a:ln>
            <a:solidFill>
              <a:schemeClr val="bg2"/>
            </a:solidFill>
          </a:ln>
        </p:spPr>
        <p:txBody>
          <a:bodyPr wrap="square" lIns="139700" tIns="139700" rIns="139700" bIns="139700" rtlCol="0" anchor="ctr"/>
          <a:lstStyle/>
          <a:p>
            <a:pPr marL="0" indent="0">
              <a:buNone/>
            </a:pPr>
            <a:r>
              <a:rPr lang="en-US" sz="1400" dirty="0">
                <a:solidFill>
                  <a:schemeClr val="tx1"/>
                </a:solidFill>
              </a:rPr>
              <a:t>Review what has been loaded in Elixir</a:t>
            </a:r>
            <a:endParaRPr lang="en-US" sz="1400" dirty="0"/>
          </a:p>
        </p:txBody>
      </p:sp>
      <p:sp>
        <p:nvSpPr>
          <p:cNvPr id="5" name="Report name 2"/>
          <p:cNvSpPr txBox="1"/>
          <p:nvPr/>
        </p:nvSpPr>
        <p:spPr>
          <a:xfrm>
            <a:off x="457200" y="1865376"/>
            <a:ext cx="3200400" cy="603504"/>
          </a:xfrm>
          <a:prstGeom prst="rect">
            <a:avLst/>
          </a:prstGeom>
          <a:solidFill>
            <a:schemeClr val="tx2"/>
          </a:solidFill>
          <a:ln>
            <a:solidFill>
              <a:schemeClr val="tx2"/>
            </a:solidFill>
          </a:ln>
        </p:spPr>
        <p:txBody>
          <a:bodyPr wrap="square" lIns="139700" tIns="139700" rIns="139700" bIns="139700" rtlCol="0" anchor="ctr"/>
          <a:lstStyle/>
          <a:p>
            <a:pPr marL="0" indent="0">
              <a:buNone/>
            </a:pPr>
            <a:r>
              <a:rPr lang="en-US" sz="1400" b="1" dirty="0">
                <a:solidFill>
                  <a:schemeClr val="bg1"/>
                </a:solidFill>
              </a:rPr>
              <a:t>Stockcount-Elixir Comparison (Batch)</a:t>
            </a:r>
            <a:endParaRPr lang="en-US" sz="1400" dirty="0"/>
          </a:p>
        </p:txBody>
      </p:sp>
      <p:sp>
        <p:nvSpPr>
          <p:cNvPr id="6" name="Report description 2"/>
          <p:cNvSpPr txBox="1"/>
          <p:nvPr/>
        </p:nvSpPr>
        <p:spPr>
          <a:xfrm>
            <a:off x="3657600" y="1865376"/>
            <a:ext cx="5029200" cy="603504"/>
          </a:xfrm>
          <a:prstGeom prst="rect">
            <a:avLst/>
          </a:prstGeom>
          <a:solidFill>
            <a:schemeClr val="bg2"/>
          </a:solidFill>
          <a:ln>
            <a:solidFill>
              <a:schemeClr val="bg2"/>
            </a:solidFill>
          </a:ln>
        </p:spPr>
        <p:txBody>
          <a:bodyPr wrap="square" lIns="139700" tIns="139700" rIns="139700" bIns="139700" rtlCol="0" anchor="ctr"/>
          <a:lstStyle/>
          <a:p>
            <a:pPr marL="0" indent="0">
              <a:buNone/>
            </a:pPr>
            <a:r>
              <a:rPr lang="en-US" sz="1400" dirty="0">
                <a:solidFill>
                  <a:schemeClr val="tx1"/>
                </a:solidFill>
              </a:rPr>
              <a:t>Product and batch level: stockcount vs Elixir</a:t>
            </a:r>
            <a:endParaRPr lang="en-US" sz="1400" dirty="0"/>
          </a:p>
        </p:txBody>
      </p:sp>
      <p:sp>
        <p:nvSpPr>
          <p:cNvPr id="7" name="Report name 3"/>
          <p:cNvSpPr txBox="1"/>
          <p:nvPr/>
        </p:nvSpPr>
        <p:spPr>
          <a:xfrm>
            <a:off x="457200" y="2542032"/>
            <a:ext cx="3200400" cy="603504"/>
          </a:xfrm>
          <a:prstGeom prst="rect">
            <a:avLst/>
          </a:prstGeom>
          <a:solidFill>
            <a:schemeClr val="tx2"/>
          </a:solidFill>
          <a:ln>
            <a:solidFill>
              <a:schemeClr val="tx2"/>
            </a:solidFill>
          </a:ln>
        </p:spPr>
        <p:txBody>
          <a:bodyPr wrap="square" lIns="139700" tIns="139700" rIns="139700" bIns="139700" rtlCol="0" anchor="ctr"/>
          <a:lstStyle/>
          <a:p>
            <a:pPr marL="0" indent="0">
              <a:buNone/>
            </a:pPr>
            <a:r>
              <a:rPr lang="en-US" sz="1400" b="1" dirty="0">
                <a:solidFill>
                  <a:schemeClr val="bg1"/>
                </a:solidFill>
              </a:rPr>
              <a:t>Stockcount-Elixir Comparison (Location)</a:t>
            </a:r>
            <a:endParaRPr lang="en-US" sz="1400" dirty="0"/>
          </a:p>
        </p:txBody>
      </p:sp>
      <p:sp>
        <p:nvSpPr>
          <p:cNvPr id="8" name="Report description 3"/>
          <p:cNvSpPr txBox="1"/>
          <p:nvPr/>
        </p:nvSpPr>
        <p:spPr>
          <a:xfrm>
            <a:off x="3657600" y="2542032"/>
            <a:ext cx="5029200" cy="603504"/>
          </a:xfrm>
          <a:prstGeom prst="rect">
            <a:avLst/>
          </a:prstGeom>
          <a:solidFill>
            <a:schemeClr val="bg2"/>
          </a:solidFill>
          <a:ln>
            <a:solidFill>
              <a:schemeClr val="bg2"/>
            </a:solidFill>
          </a:ln>
        </p:spPr>
        <p:txBody>
          <a:bodyPr wrap="square" lIns="139700" tIns="139700" rIns="139700" bIns="139700" rtlCol="0" anchor="ctr"/>
          <a:lstStyle/>
          <a:p>
            <a:pPr marL="0" indent="0">
              <a:buNone/>
            </a:pPr>
            <a:r>
              <a:rPr lang="en-US" sz="1400" dirty="0">
                <a:solidFill>
                  <a:schemeClr val="tx1"/>
                </a:solidFill>
              </a:rPr>
              <a:t>Location level: stockcount vs Elixir</a:t>
            </a:r>
            <a:endParaRPr lang="en-US" sz="1400" dirty="0"/>
          </a:p>
        </p:txBody>
      </p:sp>
      <p:sp>
        <p:nvSpPr>
          <p:cNvPr id="9" name="Report name 4"/>
          <p:cNvSpPr txBox="1"/>
          <p:nvPr/>
        </p:nvSpPr>
        <p:spPr>
          <a:xfrm>
            <a:off x="457200" y="3218688"/>
            <a:ext cx="3200400" cy="603504"/>
          </a:xfrm>
          <a:prstGeom prst="rect">
            <a:avLst/>
          </a:prstGeom>
          <a:solidFill>
            <a:schemeClr val="tx2"/>
          </a:solidFill>
          <a:ln>
            <a:solidFill>
              <a:schemeClr val="tx2"/>
            </a:solidFill>
          </a:ln>
        </p:spPr>
        <p:txBody>
          <a:bodyPr wrap="square" lIns="139700" tIns="139700" rIns="139700" bIns="139700" rtlCol="0" anchor="ctr"/>
          <a:lstStyle/>
          <a:p>
            <a:pPr marL="0" indent="0">
              <a:buNone/>
            </a:pPr>
            <a:r>
              <a:rPr lang="en-US" sz="1400" b="1" dirty="0">
                <a:solidFill>
                  <a:schemeClr val="bg1"/>
                </a:solidFill>
              </a:rPr>
              <a:t>Inventory Adj Download</a:t>
            </a:r>
            <a:endParaRPr lang="en-US" sz="1400" dirty="0"/>
          </a:p>
        </p:txBody>
      </p:sp>
      <p:sp>
        <p:nvSpPr>
          <p:cNvPr id="10" name="Report description 4"/>
          <p:cNvSpPr txBox="1"/>
          <p:nvPr/>
        </p:nvSpPr>
        <p:spPr>
          <a:xfrm>
            <a:off x="3657600" y="3218688"/>
            <a:ext cx="5029200" cy="603504"/>
          </a:xfrm>
          <a:prstGeom prst="rect">
            <a:avLst/>
          </a:prstGeom>
          <a:solidFill>
            <a:schemeClr val="bg2"/>
          </a:solidFill>
          <a:ln>
            <a:solidFill>
              <a:schemeClr val="bg2"/>
            </a:solidFill>
          </a:ln>
        </p:spPr>
        <p:txBody>
          <a:bodyPr wrap="square" lIns="139700" tIns="139700" rIns="139700" bIns="139700" rtlCol="0" anchor="ctr"/>
          <a:lstStyle/>
          <a:p>
            <a:pPr marL="0" indent="0">
              <a:buNone/>
            </a:pPr>
            <a:r>
              <a:rPr lang="en-US" sz="1400" dirty="0">
                <a:solidFill>
                  <a:schemeClr val="tx1"/>
                </a:solidFill>
              </a:rPr>
              <a:t>Inventory adjustment download for all products in the stockcount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Decide: adjust or receive</a:t>
            </a:r>
            <a:endParaRPr lang="en-US" sz="3200" dirty="0"/>
          </a:p>
        </p:txBody>
      </p:sp>
      <p:sp>
        <p:nvSpPr>
          <p:cNvPr id="3" name="Action card 1"/>
          <p:cNvSpPr/>
          <p:nvPr/>
        </p:nvSpPr>
        <p:spPr>
          <a:xfrm>
            <a:off x="457200" y="1234440"/>
            <a:ext cx="8229600" cy="1097280"/>
          </a:xfrm>
          <a:prstGeom prst="roundRect">
            <a:avLst>
              <a:gd name="adj" fmla="val 8333"/>
            </a:avLst>
          </a:prstGeom>
          <a:solidFill>
            <a:schemeClr val="bg2"/>
          </a:solidFill>
          <a:ln w="12700">
            <a:solidFill>
              <a:schemeClr val="bg2"/>
            </a:solidFill>
            <a:prstDash val="solid"/>
          </a:ln>
        </p:spPr>
        <p:txBody>
          <a:bodyPr/>
          <a:lstStyle/>
          <a:p>
            <a:endParaRPr lang="en-US"/>
          </a:p>
        </p:txBody>
      </p:sp>
      <p:sp>
        <p:nvSpPr>
          <p:cNvPr id="4" name="Action icon 1 circle"/>
          <p:cNvSpPr/>
          <p:nvPr/>
        </p:nvSpPr>
        <p:spPr>
          <a:xfrm>
            <a:off x="731520" y="1417320"/>
            <a:ext cx="731520" cy="731520"/>
          </a:xfrm>
          <a:prstGeom prst="ellipse">
            <a:avLst/>
          </a:prstGeom>
          <a:solidFill>
            <a:schemeClr val="tx2"/>
          </a:solidFill>
          <a:ln w="12700">
            <a:solidFill>
              <a:schemeClr val="tx2"/>
            </a:solidFill>
            <a:prstDash val="solid"/>
          </a:ln>
        </p:spPr>
        <p:txBody>
          <a:bodyPr/>
          <a:lstStyle/>
          <a:p>
            <a:endParaRPr lang="en-US"/>
          </a:p>
        </p:txBody>
      </p:sp>
      <p:pic>
        <p:nvPicPr>
          <p:cNvPr id="5" name="Action icon 1" descr="Action icon 1"/>
          <p:cNvPicPr>
            <a:picLocks noChangeAspect="1"/>
          </p:cNvPicPr>
          <p:nvPr/>
        </p:nvPicPr>
        <p:blipFill>
          <a:blip r:embed="rId3"/>
          <a:stretch>
            <a:fillRect/>
          </a:stretch>
        </p:blipFill>
        <p:spPr>
          <a:xfrm>
            <a:off x="914400" y="1600200"/>
            <a:ext cx="365760" cy="365760"/>
          </a:xfrm>
          <a:prstGeom prst="rect">
            <a:avLst/>
          </a:prstGeom>
        </p:spPr>
      </p:pic>
      <p:sp>
        <p:nvSpPr>
          <p:cNvPr id="6" name="Text 3"/>
          <p:cNvSpPr txBox="1"/>
          <p:nvPr/>
        </p:nvSpPr>
        <p:spPr>
          <a:xfrm>
            <a:off x="1737360" y="1417320"/>
            <a:ext cx="6675120" cy="411480"/>
          </a:xfrm>
          <a:prstGeom prst="rect">
            <a:avLst/>
          </a:prstGeom>
          <a:noFill/>
          <a:ln/>
        </p:spPr>
        <p:txBody>
          <a:bodyPr wrap="square" lIns="0" tIns="0" rIns="0" bIns="0" rtlCol="0" anchor="t"/>
          <a:lstStyle/>
          <a:p>
            <a:pPr marL="0" indent="0">
              <a:buNone/>
            </a:pPr>
            <a:r>
              <a:rPr lang="en-US" sz="2000" b="1" dirty="0">
                <a:solidFill>
                  <a:schemeClr val="tx2"/>
                </a:solidFill>
              </a:rPr>
              <a:t>Inventory Adj Download</a:t>
            </a:r>
            <a:endParaRPr lang="en-US" sz="2000" dirty="0"/>
          </a:p>
        </p:txBody>
      </p:sp>
      <p:sp>
        <p:nvSpPr>
          <p:cNvPr id="7" name="Text 4"/>
          <p:cNvSpPr txBox="1"/>
          <p:nvPr/>
        </p:nvSpPr>
        <p:spPr>
          <a:xfrm>
            <a:off x="1737360" y="1874520"/>
            <a:ext cx="6675120" cy="320040"/>
          </a:xfrm>
          <a:prstGeom prst="rect">
            <a:avLst/>
          </a:prstGeom>
          <a:noFill/>
          <a:ln/>
        </p:spPr>
        <p:txBody>
          <a:bodyPr wrap="square" lIns="0" tIns="0" rIns="0" bIns="0" rtlCol="0" anchor="t"/>
          <a:lstStyle/>
          <a:p>
            <a:pPr marL="0" indent="0">
              <a:buNone/>
            </a:pPr>
            <a:r>
              <a:rPr lang="en-US" sz="1400" dirty="0">
                <a:solidFill>
                  <a:schemeClr val="tx1"/>
                </a:solidFill>
              </a:rPr>
              <a:t>Inventory adjustment download for all products in the stockcount</a:t>
            </a:r>
            <a:endParaRPr lang="en-US" sz="1400" dirty="0"/>
          </a:p>
        </p:txBody>
      </p:sp>
      <p:sp>
        <p:nvSpPr>
          <p:cNvPr id="8" name="Action card 2"/>
          <p:cNvSpPr/>
          <p:nvPr/>
        </p:nvSpPr>
        <p:spPr>
          <a:xfrm>
            <a:off x="457200" y="2514600"/>
            <a:ext cx="8229600" cy="1097280"/>
          </a:xfrm>
          <a:prstGeom prst="roundRect">
            <a:avLst>
              <a:gd name="adj" fmla="val 8333"/>
            </a:avLst>
          </a:prstGeom>
          <a:solidFill>
            <a:schemeClr val="bg2"/>
          </a:solidFill>
          <a:ln w="12700">
            <a:solidFill>
              <a:schemeClr val="bg2"/>
            </a:solidFill>
            <a:prstDash val="solid"/>
          </a:ln>
        </p:spPr>
        <p:txBody>
          <a:bodyPr/>
          <a:lstStyle/>
          <a:p>
            <a:endParaRPr lang="en-US"/>
          </a:p>
        </p:txBody>
      </p:sp>
      <p:sp>
        <p:nvSpPr>
          <p:cNvPr id="9" name="Action icon 2 circle"/>
          <p:cNvSpPr/>
          <p:nvPr/>
        </p:nvSpPr>
        <p:spPr>
          <a:xfrm>
            <a:off x="731520" y="2697480"/>
            <a:ext cx="731520" cy="731520"/>
          </a:xfrm>
          <a:prstGeom prst="ellipse">
            <a:avLst/>
          </a:prstGeom>
          <a:solidFill>
            <a:schemeClr val="tx2"/>
          </a:solidFill>
          <a:ln w="12700">
            <a:solidFill>
              <a:schemeClr val="tx2"/>
            </a:solidFill>
            <a:prstDash val="solid"/>
          </a:ln>
        </p:spPr>
        <p:txBody>
          <a:bodyPr/>
          <a:lstStyle/>
          <a:p>
            <a:endParaRPr lang="en-US"/>
          </a:p>
        </p:txBody>
      </p:sp>
      <p:pic>
        <p:nvPicPr>
          <p:cNvPr id="10" name="Action icon 2" descr="Action icon 2"/>
          <p:cNvPicPr>
            <a:picLocks noChangeAspect="1"/>
          </p:cNvPicPr>
          <p:nvPr/>
        </p:nvPicPr>
        <p:blipFill>
          <a:blip r:embed="rId4"/>
          <a:stretch>
            <a:fillRect/>
          </a:stretch>
        </p:blipFill>
        <p:spPr>
          <a:xfrm>
            <a:off x="914400" y="2880360"/>
            <a:ext cx="365760" cy="365760"/>
          </a:xfrm>
          <a:prstGeom prst="rect">
            <a:avLst/>
          </a:prstGeom>
        </p:spPr>
      </p:pic>
      <p:sp>
        <p:nvSpPr>
          <p:cNvPr id="11" name="Text 7"/>
          <p:cNvSpPr txBox="1"/>
          <p:nvPr/>
        </p:nvSpPr>
        <p:spPr>
          <a:xfrm>
            <a:off x="1737360" y="2697480"/>
            <a:ext cx="6675120" cy="411480"/>
          </a:xfrm>
          <a:prstGeom prst="rect">
            <a:avLst/>
          </a:prstGeom>
          <a:noFill/>
          <a:ln/>
        </p:spPr>
        <p:txBody>
          <a:bodyPr wrap="square" lIns="0" tIns="0" rIns="0" bIns="0" rtlCol="0" anchor="t"/>
          <a:lstStyle/>
          <a:p>
            <a:pPr marL="0" indent="0">
              <a:buNone/>
            </a:pPr>
            <a:r>
              <a:rPr lang="en-US" sz="2000" b="1" dirty="0">
                <a:solidFill>
                  <a:schemeClr val="tx2"/>
                </a:solidFill>
              </a:rPr>
              <a:t>Receive Import Template</a:t>
            </a:r>
            <a:endParaRPr lang="en-US" sz="2000" dirty="0"/>
          </a:p>
        </p:txBody>
      </p:sp>
      <p:sp>
        <p:nvSpPr>
          <p:cNvPr id="12" name="Text 8"/>
          <p:cNvSpPr txBox="1"/>
          <p:nvPr/>
        </p:nvSpPr>
        <p:spPr>
          <a:xfrm>
            <a:off x="1737360" y="3154680"/>
            <a:ext cx="6675120" cy="320040"/>
          </a:xfrm>
          <a:prstGeom prst="rect">
            <a:avLst/>
          </a:prstGeom>
          <a:noFill/>
          <a:ln/>
        </p:spPr>
        <p:txBody>
          <a:bodyPr wrap="square" lIns="0" tIns="0" rIns="0" bIns="0" rtlCol="0" anchor="t"/>
          <a:lstStyle/>
          <a:p>
            <a:pPr marL="0" indent="0">
              <a:buNone/>
            </a:pPr>
            <a:r>
              <a:rPr lang="en-US" sz="1400" dirty="0">
                <a:solidFill>
                  <a:schemeClr val="tx1"/>
                </a:solidFill>
              </a:rPr>
              <a:t>Receive import template for all products in the stockcount</a:t>
            </a:r>
            <a:endParaRPr lang="en-US" sz="1400" dirty="0"/>
          </a:p>
        </p:txBody>
      </p:sp>
      <p:sp>
        <p:nvSpPr>
          <p:cNvPr id="13" name="Decision banner"/>
          <p:cNvSpPr txBox="1"/>
          <p:nvPr/>
        </p:nvSpPr>
        <p:spPr>
          <a:xfrm>
            <a:off x="457200" y="3840480"/>
            <a:ext cx="8229600" cy="640080"/>
          </a:xfrm>
          <a:prstGeom prst="roundRect">
            <a:avLst>
              <a:gd name="adj" fmla="val 14286"/>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chemeClr val="tx1"/>
                </a:solidFill>
              </a:rPr>
              <a:t>Users take the adjust and receive decisions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Points to discuss</a:t>
            </a:r>
            <a:endParaRPr lang="en-US" sz="3200" dirty="0"/>
          </a:p>
        </p:txBody>
      </p:sp>
      <p:sp>
        <p:nvSpPr>
          <p:cNvPr id="3" name="Point card 1"/>
          <p:cNvSpPr/>
          <p:nvPr/>
        </p:nvSpPr>
        <p:spPr>
          <a:xfrm>
            <a:off x="457200" y="1280160"/>
            <a:ext cx="2560320" cy="3200400"/>
          </a:xfrm>
          <a:prstGeom prst="roundRect">
            <a:avLst>
              <a:gd name="adj" fmla="val 3571"/>
            </a:avLst>
          </a:prstGeom>
          <a:solidFill>
            <a:schemeClr val="bg2"/>
          </a:solidFill>
          <a:ln w="12700">
            <a:solidFill>
              <a:schemeClr val="bg2"/>
            </a:solidFill>
            <a:prstDash val="solid"/>
          </a:ln>
        </p:spPr>
        <p:txBody>
          <a:bodyPr/>
          <a:lstStyle/>
          <a:p>
            <a:endParaRPr lang="en-US"/>
          </a:p>
        </p:txBody>
      </p:sp>
      <p:sp>
        <p:nvSpPr>
          <p:cNvPr id="4" name="Point icon 1 circle"/>
          <p:cNvSpPr/>
          <p:nvPr/>
        </p:nvSpPr>
        <p:spPr>
          <a:xfrm>
            <a:off x="685800" y="1508760"/>
            <a:ext cx="731520" cy="731520"/>
          </a:xfrm>
          <a:prstGeom prst="ellipse">
            <a:avLst/>
          </a:prstGeom>
          <a:solidFill>
            <a:schemeClr val="tx2"/>
          </a:solidFill>
          <a:ln w="12700">
            <a:solidFill>
              <a:schemeClr val="tx2"/>
            </a:solidFill>
            <a:prstDash val="solid"/>
          </a:ln>
        </p:spPr>
        <p:txBody>
          <a:bodyPr/>
          <a:lstStyle/>
          <a:p>
            <a:endParaRPr lang="en-US"/>
          </a:p>
        </p:txBody>
      </p:sp>
      <p:pic>
        <p:nvPicPr>
          <p:cNvPr id="5" name="Point icon 1" descr="Point icon 1"/>
          <p:cNvPicPr>
            <a:picLocks noChangeAspect="1"/>
          </p:cNvPicPr>
          <p:nvPr/>
        </p:nvPicPr>
        <p:blipFill>
          <a:blip r:embed="rId3"/>
          <a:stretch>
            <a:fillRect/>
          </a:stretch>
        </p:blipFill>
        <p:spPr>
          <a:xfrm>
            <a:off x="868680" y="1691640"/>
            <a:ext cx="365760" cy="365760"/>
          </a:xfrm>
          <a:prstGeom prst="rect">
            <a:avLst/>
          </a:prstGeom>
        </p:spPr>
      </p:pic>
      <p:sp>
        <p:nvSpPr>
          <p:cNvPr id="6" name="Text 3"/>
          <p:cNvSpPr txBox="1"/>
          <p:nvPr/>
        </p:nvSpPr>
        <p:spPr>
          <a:xfrm>
            <a:off x="685800" y="2423160"/>
            <a:ext cx="2103120" cy="731520"/>
          </a:xfrm>
          <a:prstGeom prst="rect">
            <a:avLst/>
          </a:prstGeom>
          <a:noFill/>
          <a:ln/>
        </p:spPr>
        <p:txBody>
          <a:bodyPr wrap="square" lIns="0" tIns="0" rIns="0" bIns="0" rtlCol="0" anchor="t"/>
          <a:lstStyle/>
          <a:p>
            <a:pPr marL="0" indent="0">
              <a:buNone/>
            </a:pPr>
            <a:r>
              <a:rPr lang="en-US" sz="1800" b="1" dirty="0">
                <a:solidFill>
                  <a:schemeClr val="tx2"/>
                </a:solidFill>
              </a:rPr>
              <a:t>One product in multiple stockcounts</a:t>
            </a:r>
            <a:endParaRPr lang="en-US" sz="1800" dirty="0"/>
          </a:p>
        </p:txBody>
      </p:sp>
      <p:sp>
        <p:nvSpPr>
          <p:cNvPr id="7" name="Text 4"/>
          <p:cNvSpPr txBox="1"/>
          <p:nvPr/>
        </p:nvSpPr>
        <p:spPr>
          <a:xfrm>
            <a:off x="685800" y="3200400"/>
            <a:ext cx="2103120" cy="1188720"/>
          </a:xfrm>
          <a:prstGeom prst="rect">
            <a:avLst/>
          </a:prstGeom>
          <a:noFill/>
          <a:ln/>
        </p:spPr>
        <p:txBody>
          <a:bodyPr wrap="square" lIns="0" tIns="0" rIns="0" bIns="0" rtlCol="0" anchor="t"/>
          <a:lstStyle/>
          <a:p>
            <a:pPr marL="0" indent="0">
              <a:buNone/>
            </a:pPr>
            <a:r>
              <a:rPr lang="en-US" sz="1400" dirty="0">
                <a:solidFill>
                  <a:schemeClr val="tx1"/>
                </a:solidFill>
              </a:rPr>
              <a:t>The same product can appear in more than one </a:t>
            </a:r>
            <a:r>
              <a:rPr lang="en-US" sz="1400" dirty="0" err="1">
                <a:solidFill>
                  <a:schemeClr val="tx1"/>
                </a:solidFill>
              </a:rPr>
              <a:t>stockcount</a:t>
            </a:r>
            <a:r>
              <a:rPr lang="en-US" sz="1400" dirty="0">
                <a:solidFill>
                  <a:schemeClr val="tx1"/>
                </a:solidFill>
              </a:rPr>
              <a:t> location. Agree how to handle it.</a:t>
            </a:r>
            <a:endParaRPr lang="en-US" sz="1400" dirty="0"/>
          </a:p>
        </p:txBody>
      </p:sp>
      <p:sp>
        <p:nvSpPr>
          <p:cNvPr id="8" name="Point card 2"/>
          <p:cNvSpPr/>
          <p:nvPr/>
        </p:nvSpPr>
        <p:spPr>
          <a:xfrm>
            <a:off x="3291840" y="1280160"/>
            <a:ext cx="2560320" cy="3200400"/>
          </a:xfrm>
          <a:prstGeom prst="roundRect">
            <a:avLst>
              <a:gd name="adj" fmla="val 3571"/>
            </a:avLst>
          </a:prstGeom>
          <a:solidFill>
            <a:schemeClr val="bg2"/>
          </a:solidFill>
          <a:ln w="12700">
            <a:solidFill>
              <a:schemeClr val="bg2"/>
            </a:solidFill>
            <a:prstDash val="solid"/>
          </a:ln>
        </p:spPr>
        <p:txBody>
          <a:bodyPr/>
          <a:lstStyle/>
          <a:p>
            <a:endParaRPr lang="en-US"/>
          </a:p>
        </p:txBody>
      </p:sp>
      <p:sp>
        <p:nvSpPr>
          <p:cNvPr id="9" name="Point icon 2 circle"/>
          <p:cNvSpPr/>
          <p:nvPr/>
        </p:nvSpPr>
        <p:spPr>
          <a:xfrm>
            <a:off x="3520440" y="1508760"/>
            <a:ext cx="731520" cy="731520"/>
          </a:xfrm>
          <a:prstGeom prst="ellipse">
            <a:avLst/>
          </a:prstGeom>
          <a:solidFill>
            <a:schemeClr val="tx2"/>
          </a:solidFill>
          <a:ln w="12700">
            <a:solidFill>
              <a:schemeClr val="tx2"/>
            </a:solidFill>
            <a:prstDash val="solid"/>
          </a:ln>
        </p:spPr>
        <p:txBody>
          <a:bodyPr/>
          <a:lstStyle/>
          <a:p>
            <a:endParaRPr lang="en-US"/>
          </a:p>
        </p:txBody>
      </p:sp>
      <p:pic>
        <p:nvPicPr>
          <p:cNvPr id="10" name="Point icon 2" descr="Point icon 2"/>
          <p:cNvPicPr>
            <a:picLocks noChangeAspect="1"/>
          </p:cNvPicPr>
          <p:nvPr/>
        </p:nvPicPr>
        <p:blipFill>
          <a:blip r:embed="rId4"/>
          <a:stretch>
            <a:fillRect/>
          </a:stretch>
        </p:blipFill>
        <p:spPr>
          <a:xfrm>
            <a:off x="3703320" y="1691640"/>
            <a:ext cx="365760" cy="365760"/>
          </a:xfrm>
          <a:prstGeom prst="rect">
            <a:avLst/>
          </a:prstGeom>
        </p:spPr>
      </p:pic>
      <p:sp>
        <p:nvSpPr>
          <p:cNvPr id="11" name="Text 7"/>
          <p:cNvSpPr txBox="1"/>
          <p:nvPr/>
        </p:nvSpPr>
        <p:spPr>
          <a:xfrm>
            <a:off x="3520440" y="2423160"/>
            <a:ext cx="2103120" cy="731520"/>
          </a:xfrm>
          <a:prstGeom prst="rect">
            <a:avLst/>
          </a:prstGeom>
          <a:noFill/>
          <a:ln/>
        </p:spPr>
        <p:txBody>
          <a:bodyPr wrap="square" lIns="0" tIns="0" rIns="0" bIns="0" rtlCol="0" anchor="t"/>
          <a:lstStyle/>
          <a:p>
            <a:pPr marL="0" indent="0">
              <a:buNone/>
            </a:pPr>
            <a:r>
              <a:rPr lang="en-US" sz="1800" b="1" dirty="0">
                <a:solidFill>
                  <a:schemeClr val="tx2"/>
                </a:solidFill>
              </a:rPr>
              <a:t>Users take the decisions</a:t>
            </a:r>
            <a:endParaRPr lang="en-US" sz="1800" dirty="0"/>
          </a:p>
        </p:txBody>
      </p:sp>
      <p:sp>
        <p:nvSpPr>
          <p:cNvPr id="12" name="Text 8"/>
          <p:cNvSpPr txBox="1"/>
          <p:nvPr/>
        </p:nvSpPr>
        <p:spPr>
          <a:xfrm>
            <a:off x="3520440" y="3200400"/>
            <a:ext cx="2103120" cy="1188720"/>
          </a:xfrm>
          <a:prstGeom prst="rect">
            <a:avLst/>
          </a:prstGeom>
          <a:noFill/>
          <a:ln/>
        </p:spPr>
        <p:txBody>
          <a:bodyPr wrap="square" lIns="0" tIns="0" rIns="0" bIns="0" rtlCol="0" anchor="t"/>
          <a:lstStyle/>
          <a:p>
            <a:pPr marL="0" indent="0">
              <a:buNone/>
            </a:pPr>
            <a:r>
              <a:rPr lang="en-US" sz="1400" dirty="0">
                <a:solidFill>
                  <a:schemeClr val="tx1"/>
                </a:solidFill>
              </a:rPr>
              <a:t>Adjusting or receiving is decided by the user.</a:t>
            </a:r>
            <a:endParaRPr lang="en-US" sz="1400" dirty="0"/>
          </a:p>
        </p:txBody>
      </p:sp>
      <p:sp>
        <p:nvSpPr>
          <p:cNvPr id="13" name="Point card 3"/>
          <p:cNvSpPr/>
          <p:nvPr/>
        </p:nvSpPr>
        <p:spPr>
          <a:xfrm>
            <a:off x="6126480" y="1280160"/>
            <a:ext cx="2560320" cy="3200400"/>
          </a:xfrm>
          <a:prstGeom prst="roundRect">
            <a:avLst>
              <a:gd name="adj" fmla="val 3571"/>
            </a:avLst>
          </a:prstGeom>
          <a:solidFill>
            <a:schemeClr val="bg2"/>
          </a:solidFill>
          <a:ln w="12700">
            <a:solidFill>
              <a:schemeClr val="bg2"/>
            </a:solidFill>
            <a:prstDash val="solid"/>
          </a:ln>
        </p:spPr>
        <p:txBody>
          <a:bodyPr/>
          <a:lstStyle/>
          <a:p>
            <a:endParaRPr lang="en-US"/>
          </a:p>
        </p:txBody>
      </p:sp>
      <p:sp>
        <p:nvSpPr>
          <p:cNvPr id="14" name="Point icon 3 circle"/>
          <p:cNvSpPr/>
          <p:nvPr/>
        </p:nvSpPr>
        <p:spPr>
          <a:xfrm>
            <a:off x="6355080" y="150876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5" name="Point icon 3" descr="Point icon 3"/>
          <p:cNvPicPr>
            <a:picLocks noChangeAspect="1"/>
          </p:cNvPicPr>
          <p:nvPr/>
        </p:nvPicPr>
        <p:blipFill>
          <a:blip r:embed="rId5"/>
          <a:stretch>
            <a:fillRect/>
          </a:stretch>
        </p:blipFill>
        <p:spPr>
          <a:xfrm>
            <a:off x="6537960" y="1691640"/>
            <a:ext cx="365760" cy="365760"/>
          </a:xfrm>
          <a:prstGeom prst="rect">
            <a:avLst/>
          </a:prstGeom>
        </p:spPr>
      </p:pic>
      <p:sp>
        <p:nvSpPr>
          <p:cNvPr id="16" name="Text 11"/>
          <p:cNvSpPr txBox="1"/>
          <p:nvPr/>
        </p:nvSpPr>
        <p:spPr>
          <a:xfrm>
            <a:off x="6355080" y="2423160"/>
            <a:ext cx="2103120" cy="731520"/>
          </a:xfrm>
          <a:prstGeom prst="rect">
            <a:avLst/>
          </a:prstGeom>
          <a:noFill/>
          <a:ln/>
        </p:spPr>
        <p:txBody>
          <a:bodyPr wrap="square" lIns="0" tIns="0" rIns="0" bIns="0" rtlCol="0" anchor="t"/>
          <a:lstStyle/>
          <a:p>
            <a:pPr marL="0" indent="0">
              <a:buNone/>
            </a:pPr>
            <a:r>
              <a:rPr lang="en-US" sz="1800" b="1" dirty="0">
                <a:solidFill>
                  <a:schemeClr val="tx2"/>
                </a:solidFill>
              </a:rPr>
              <a:t>Product or batch on hold (Committed)</a:t>
            </a:r>
            <a:endParaRPr lang="en-US" sz="1800" dirty="0"/>
          </a:p>
        </p:txBody>
      </p:sp>
      <p:sp>
        <p:nvSpPr>
          <p:cNvPr id="17" name="Text 12"/>
          <p:cNvSpPr txBox="1"/>
          <p:nvPr/>
        </p:nvSpPr>
        <p:spPr>
          <a:xfrm>
            <a:off x="6355080" y="3200400"/>
            <a:ext cx="2103120" cy="1188720"/>
          </a:xfrm>
          <a:prstGeom prst="rect">
            <a:avLst/>
          </a:prstGeom>
          <a:noFill/>
          <a:ln/>
        </p:spPr>
        <p:txBody>
          <a:bodyPr wrap="square" lIns="0" tIns="0" rIns="0" bIns="0" rtlCol="0" anchor="t"/>
          <a:lstStyle/>
          <a:p>
            <a:pPr marL="0" indent="0">
              <a:buNone/>
            </a:pPr>
            <a:r>
              <a:rPr lang="en-US" sz="1400" dirty="0">
                <a:solidFill>
                  <a:schemeClr val="tx1"/>
                </a:solidFill>
              </a:rPr>
              <a:t>It cannot be adjusted until it is shipped out or unconfirmed.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Make sure the </a:t>
            </a:r>
            <a:r>
              <a:rPr lang="en-US" sz="3200" b="1" dirty="0" err="1">
                <a:solidFill>
                  <a:schemeClr val="tx1"/>
                </a:solidFill>
              </a:rPr>
              <a:t>Stockcount</a:t>
            </a:r>
            <a:r>
              <a:rPr lang="en-US" sz="3200" b="1" dirty="0">
                <a:solidFill>
                  <a:schemeClr val="tx1"/>
                </a:solidFill>
              </a:rPr>
              <a:t> data is right</a:t>
            </a:r>
            <a:endParaRPr lang="en-US" sz="3200" dirty="0">
              <a:solidFill>
                <a:schemeClr val="tx1"/>
              </a:solidFill>
            </a:endParaRPr>
          </a:p>
        </p:txBody>
      </p:sp>
      <p:sp>
        <p:nvSpPr>
          <p:cNvPr id="3" name="Text 1"/>
          <p:cNvSpPr txBox="1"/>
          <p:nvPr/>
        </p:nvSpPr>
        <p:spPr>
          <a:xfrm>
            <a:off x="457200" y="1280160"/>
            <a:ext cx="8229600" cy="457200"/>
          </a:xfrm>
          <a:prstGeom prst="rect">
            <a:avLst/>
          </a:prstGeom>
          <a:noFill/>
          <a:ln/>
        </p:spPr>
        <p:txBody>
          <a:bodyPr wrap="square" lIns="0" tIns="0" rIns="0" bIns="0" rtlCol="0" anchor="t"/>
          <a:lstStyle/>
          <a:p>
            <a:pPr marL="0" indent="0">
              <a:buNone/>
            </a:pPr>
            <a:r>
              <a:rPr lang="en-US" sz="1800" dirty="0"/>
              <a:t>The system runs some validations, but users must make sure of:</a:t>
            </a:r>
          </a:p>
        </p:txBody>
      </p:sp>
      <p:sp>
        <p:nvSpPr>
          <p:cNvPr id="4" name="Data quality card 1"/>
          <p:cNvSpPr/>
          <p:nvPr/>
        </p:nvSpPr>
        <p:spPr>
          <a:xfrm>
            <a:off x="457200" y="2103120"/>
            <a:ext cx="2560320" cy="2011680"/>
          </a:xfrm>
          <a:prstGeom prst="roundRect">
            <a:avLst>
              <a:gd name="adj" fmla="val 4545"/>
            </a:avLst>
          </a:prstGeom>
          <a:solidFill>
            <a:schemeClr val="accent5">
              <a:lumMod val="40000"/>
              <a:lumOff val="60000"/>
            </a:schemeClr>
          </a:solidFill>
          <a:ln w="12700">
            <a:solidFill>
              <a:schemeClr val="tx1"/>
            </a:solidFill>
            <a:prstDash val="solid"/>
          </a:ln>
        </p:spPr>
        <p:txBody>
          <a:bodyPr/>
          <a:lstStyle/>
          <a:p>
            <a:endParaRPr lang="en-US"/>
          </a:p>
        </p:txBody>
      </p:sp>
      <p:sp>
        <p:nvSpPr>
          <p:cNvPr id="5" name="Data quality icon 1 circle"/>
          <p:cNvSpPr/>
          <p:nvPr/>
        </p:nvSpPr>
        <p:spPr>
          <a:xfrm>
            <a:off x="685800" y="23774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6" name="Data quality icon 1" descr="Data quality icon 1"/>
          <p:cNvPicPr>
            <a:picLocks noChangeAspect="1"/>
          </p:cNvPicPr>
          <p:nvPr/>
        </p:nvPicPr>
        <p:blipFill>
          <a:blip r:embed="rId4"/>
          <a:stretch>
            <a:fillRect/>
          </a:stretch>
        </p:blipFill>
        <p:spPr>
          <a:xfrm>
            <a:off x="868680" y="2560320"/>
            <a:ext cx="365760" cy="365760"/>
          </a:xfrm>
          <a:prstGeom prst="rect">
            <a:avLst/>
          </a:prstGeom>
        </p:spPr>
      </p:pic>
      <p:sp>
        <p:nvSpPr>
          <p:cNvPr id="7" name="Text 4"/>
          <p:cNvSpPr txBox="1"/>
          <p:nvPr/>
        </p:nvSpPr>
        <p:spPr>
          <a:xfrm>
            <a:off x="685800" y="3337560"/>
            <a:ext cx="2103120" cy="548640"/>
          </a:xfrm>
          <a:prstGeom prst="rect">
            <a:avLst/>
          </a:prstGeom>
          <a:noFill/>
          <a:ln/>
        </p:spPr>
        <p:txBody>
          <a:bodyPr wrap="square" lIns="0" tIns="0" rIns="0" bIns="0" rtlCol="0" anchor="t"/>
          <a:lstStyle/>
          <a:p>
            <a:pPr marL="0" indent="0">
              <a:buNone/>
            </a:pPr>
            <a:r>
              <a:rPr lang="en-US" sz="2000" b="1" dirty="0">
                <a:solidFill>
                  <a:schemeClr val="bg1"/>
                </a:solidFill>
              </a:rPr>
              <a:t>Data integrity</a:t>
            </a:r>
            <a:endParaRPr lang="en-US" sz="2000" dirty="0"/>
          </a:p>
        </p:txBody>
      </p:sp>
      <p:sp>
        <p:nvSpPr>
          <p:cNvPr id="8" name="Data quality card 2"/>
          <p:cNvSpPr/>
          <p:nvPr/>
        </p:nvSpPr>
        <p:spPr>
          <a:xfrm>
            <a:off x="3291840" y="2103120"/>
            <a:ext cx="2560320" cy="2011680"/>
          </a:xfrm>
          <a:prstGeom prst="roundRect">
            <a:avLst>
              <a:gd name="adj" fmla="val 4545"/>
            </a:avLst>
          </a:prstGeom>
          <a:solidFill>
            <a:schemeClr val="accent5">
              <a:lumMod val="40000"/>
              <a:lumOff val="60000"/>
            </a:schemeClr>
          </a:solidFill>
          <a:ln w="12700">
            <a:solidFill>
              <a:schemeClr val="tx1"/>
            </a:solidFill>
            <a:prstDash val="solid"/>
          </a:ln>
        </p:spPr>
        <p:txBody>
          <a:bodyPr/>
          <a:lstStyle/>
          <a:p>
            <a:endParaRPr lang="en-US"/>
          </a:p>
        </p:txBody>
      </p:sp>
      <p:sp>
        <p:nvSpPr>
          <p:cNvPr id="9" name="Data quality icon 2 circle"/>
          <p:cNvSpPr/>
          <p:nvPr/>
        </p:nvSpPr>
        <p:spPr>
          <a:xfrm>
            <a:off x="3520440" y="23774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0" name="Data quality icon 2" descr="Data quality icon 2"/>
          <p:cNvPicPr>
            <a:picLocks noChangeAspect="1"/>
          </p:cNvPicPr>
          <p:nvPr/>
        </p:nvPicPr>
        <p:blipFill>
          <a:blip r:embed="rId5"/>
          <a:stretch>
            <a:fillRect/>
          </a:stretch>
        </p:blipFill>
        <p:spPr>
          <a:xfrm>
            <a:off x="3703320" y="2560320"/>
            <a:ext cx="365760" cy="365760"/>
          </a:xfrm>
          <a:prstGeom prst="rect">
            <a:avLst/>
          </a:prstGeom>
        </p:spPr>
      </p:pic>
      <p:sp>
        <p:nvSpPr>
          <p:cNvPr id="11" name="Text 7"/>
          <p:cNvSpPr txBox="1"/>
          <p:nvPr/>
        </p:nvSpPr>
        <p:spPr>
          <a:xfrm>
            <a:off x="3520440" y="3337560"/>
            <a:ext cx="2103120" cy="548640"/>
          </a:xfrm>
          <a:prstGeom prst="rect">
            <a:avLst/>
          </a:prstGeom>
          <a:noFill/>
          <a:ln/>
        </p:spPr>
        <p:txBody>
          <a:bodyPr wrap="square" lIns="0" tIns="0" rIns="0" bIns="0" rtlCol="0" anchor="t"/>
          <a:lstStyle/>
          <a:p>
            <a:pPr marL="0" indent="0">
              <a:buNone/>
            </a:pPr>
            <a:r>
              <a:rPr lang="en-US" sz="2000" b="1" dirty="0">
                <a:solidFill>
                  <a:schemeClr val="bg1"/>
                </a:solidFill>
              </a:rPr>
              <a:t>Data cleanliness</a:t>
            </a:r>
            <a:endParaRPr lang="en-US" sz="2000" dirty="0"/>
          </a:p>
        </p:txBody>
      </p:sp>
      <p:sp>
        <p:nvSpPr>
          <p:cNvPr id="12" name="Data quality card 3"/>
          <p:cNvSpPr/>
          <p:nvPr/>
        </p:nvSpPr>
        <p:spPr>
          <a:xfrm>
            <a:off x="6126480" y="2103120"/>
            <a:ext cx="2560320" cy="2011680"/>
          </a:xfrm>
          <a:prstGeom prst="roundRect">
            <a:avLst>
              <a:gd name="adj" fmla="val 4545"/>
            </a:avLst>
          </a:prstGeom>
          <a:solidFill>
            <a:schemeClr val="accent5">
              <a:lumMod val="40000"/>
              <a:lumOff val="60000"/>
            </a:schemeClr>
          </a:solidFill>
          <a:ln w="12700">
            <a:solidFill>
              <a:schemeClr val="tx1"/>
            </a:solidFill>
            <a:prstDash val="solid"/>
          </a:ln>
        </p:spPr>
        <p:txBody>
          <a:bodyPr/>
          <a:lstStyle/>
          <a:p>
            <a:endParaRPr lang="en-US"/>
          </a:p>
        </p:txBody>
      </p:sp>
      <p:sp>
        <p:nvSpPr>
          <p:cNvPr id="13" name="Data quality icon 3 circle"/>
          <p:cNvSpPr/>
          <p:nvPr/>
        </p:nvSpPr>
        <p:spPr>
          <a:xfrm>
            <a:off x="6355080" y="23774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4" name="Data quality icon 3" descr="Data quality icon 3"/>
          <p:cNvPicPr>
            <a:picLocks noChangeAspect="1"/>
          </p:cNvPicPr>
          <p:nvPr/>
        </p:nvPicPr>
        <p:blipFill>
          <a:blip r:embed="rId6"/>
          <a:stretch>
            <a:fillRect/>
          </a:stretch>
        </p:blipFill>
        <p:spPr>
          <a:xfrm>
            <a:off x="6537960" y="2560320"/>
            <a:ext cx="365760" cy="365760"/>
          </a:xfrm>
          <a:prstGeom prst="rect">
            <a:avLst/>
          </a:prstGeom>
        </p:spPr>
      </p:pic>
      <p:sp>
        <p:nvSpPr>
          <p:cNvPr id="15" name="Text 10"/>
          <p:cNvSpPr txBox="1"/>
          <p:nvPr/>
        </p:nvSpPr>
        <p:spPr>
          <a:xfrm>
            <a:off x="6355080" y="3337560"/>
            <a:ext cx="2103120" cy="548640"/>
          </a:xfrm>
          <a:prstGeom prst="rect">
            <a:avLst/>
          </a:prstGeom>
          <a:noFill/>
          <a:ln/>
        </p:spPr>
        <p:txBody>
          <a:bodyPr wrap="square" lIns="0" tIns="0" rIns="0" bIns="0" rtlCol="0" anchor="t"/>
          <a:lstStyle/>
          <a:p>
            <a:pPr marL="0" indent="0">
              <a:buNone/>
            </a:pPr>
            <a:r>
              <a:rPr lang="en-US" sz="2000" b="1" dirty="0">
                <a:solidFill>
                  <a:schemeClr val="bg1"/>
                </a:solidFill>
              </a:rPr>
              <a:t>Data validations</a:t>
            </a:r>
            <a:endParaRPr lang="en-US" sz="2000" dirty="0"/>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471B80-C9A0-A21E-1728-E523698976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71C001-E8F4-67BE-D95E-92F3303104A5}"/>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Pre Steps for SLT</a:t>
            </a:r>
            <a:endParaRPr lang="en-US" sz="3200" dirty="0">
              <a:solidFill>
                <a:schemeClr val="tx1"/>
              </a:solidFill>
            </a:endParaRPr>
          </a:p>
        </p:txBody>
      </p:sp>
      <p:sp>
        <p:nvSpPr>
          <p:cNvPr id="3" name="Text 1">
            <a:extLst>
              <a:ext uri="{FF2B5EF4-FFF2-40B4-BE49-F238E27FC236}">
                <a16:creationId xmlns:a16="http://schemas.microsoft.com/office/drawing/2014/main" id="{CE940584-BB59-4B15-79F7-3AA884CE4052}"/>
              </a:ext>
            </a:extLst>
          </p:cNvPr>
          <p:cNvSpPr txBox="1"/>
          <p:nvPr/>
        </p:nvSpPr>
        <p:spPr>
          <a:xfrm>
            <a:off x="457200" y="1280159"/>
            <a:ext cx="8229600"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Identify users who will take inventory</a:t>
            </a:r>
          </a:p>
          <a:p>
            <a:pPr marL="285750" indent="-285750">
              <a:lnSpc>
                <a:spcPct val="150000"/>
              </a:lnSpc>
              <a:buFont typeface="Wingdings" panose="05000000000000000000" pitchFamily="2" charset="2"/>
              <a:buChar char="Ø"/>
            </a:pPr>
            <a:r>
              <a:rPr lang="en-US" sz="1600" dirty="0"/>
              <a:t>Create credentials (user/password) for users</a:t>
            </a:r>
          </a:p>
          <a:p>
            <a:pPr marL="285750" indent="-285750">
              <a:lnSpc>
                <a:spcPct val="150000"/>
              </a:lnSpc>
              <a:buFont typeface="Wingdings" panose="05000000000000000000" pitchFamily="2" charset="2"/>
              <a:buChar char="Ø"/>
            </a:pPr>
            <a:r>
              <a:rPr lang="en-US" sz="1600" dirty="0"/>
              <a:t>Identify locations (bins) for users for inventory</a:t>
            </a:r>
          </a:p>
          <a:p>
            <a:pPr marL="285750" indent="-285750">
              <a:lnSpc>
                <a:spcPct val="150000"/>
              </a:lnSpc>
              <a:buFont typeface="Wingdings" panose="05000000000000000000" pitchFamily="2" charset="2"/>
              <a:buChar char="Ø"/>
            </a:pPr>
            <a:r>
              <a:rPr lang="en-US" sz="1600" dirty="0"/>
              <a:t>Add new products or locations if missing</a:t>
            </a:r>
          </a:p>
          <a:p>
            <a:pPr marL="285750" indent="-285750">
              <a:lnSpc>
                <a:spcPct val="150000"/>
              </a:lnSpc>
              <a:buFont typeface="Wingdings" panose="05000000000000000000" pitchFamily="2" charset="2"/>
              <a:buChar char="Ø"/>
            </a:pPr>
            <a:r>
              <a:rPr lang="en-US" sz="1600" dirty="0"/>
              <a:t>Make sure all sales orders are either open or closed (no committed qty)</a:t>
            </a:r>
          </a:p>
          <a:p>
            <a:pPr marL="285750" indent="-285750">
              <a:lnSpc>
                <a:spcPct val="150000"/>
              </a:lnSpc>
              <a:buFont typeface="Wingdings" panose="05000000000000000000" pitchFamily="2" charset="2"/>
              <a:buChar char="Ø"/>
            </a:pPr>
            <a:r>
              <a:rPr lang="en-US" sz="1600" dirty="0"/>
              <a:t>Make sure all receives are closed (putaway done)</a:t>
            </a:r>
          </a:p>
          <a:p>
            <a:pPr marL="285750" indent="-285750">
              <a:lnSpc>
                <a:spcPct val="150000"/>
              </a:lnSpc>
              <a:buFont typeface="Wingdings" panose="05000000000000000000" pitchFamily="2" charset="2"/>
              <a:buChar char="Ø"/>
            </a:pPr>
            <a:r>
              <a:rPr lang="en-US" sz="1600" dirty="0"/>
              <a:t>Make sure all scheduled transfers are closed (received in destination warehouse)</a:t>
            </a:r>
          </a:p>
          <a:p>
            <a:pPr marL="285750" indent="-285750">
              <a:lnSpc>
                <a:spcPct val="150000"/>
              </a:lnSpc>
              <a:buFont typeface="Wingdings" panose="05000000000000000000" pitchFamily="2" charset="2"/>
              <a:buChar char="Ø"/>
            </a:pPr>
            <a:r>
              <a:rPr lang="en-US" sz="1600" dirty="0"/>
              <a:t>Extract inventory dumps at product, batch and location levels</a:t>
            </a:r>
          </a:p>
          <a:p>
            <a:pPr marL="285750" indent="-285750">
              <a:lnSpc>
                <a:spcPct val="150000"/>
              </a:lnSpc>
              <a:buFont typeface="Wingdings" panose="05000000000000000000" pitchFamily="2" charset="2"/>
              <a:buChar char="Ø"/>
            </a:pPr>
            <a:r>
              <a:rPr lang="en-US" sz="1600" dirty="0"/>
              <a:t>Provide excel files for users, user-credentials, user-locations to Elixir support</a:t>
            </a:r>
          </a:p>
        </p:txBody>
      </p:sp>
    </p:spTree>
    <p:extLst>
      <p:ext uri="{BB962C8B-B14F-4D97-AF65-F5344CB8AC3E}">
        <p14:creationId xmlns:p14="http://schemas.microsoft.com/office/powerpoint/2010/main" val="1766328602"/>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0F2CA7-ACBD-6D04-06CC-89D21AE48F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B7006F-5B86-4BFE-F6EB-E7AFE107E584}"/>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Pre Steps for Elixir Support</a:t>
            </a:r>
            <a:endParaRPr lang="en-US" sz="3200" dirty="0">
              <a:solidFill>
                <a:schemeClr val="tx1"/>
              </a:solidFill>
            </a:endParaRPr>
          </a:p>
        </p:txBody>
      </p:sp>
      <p:sp>
        <p:nvSpPr>
          <p:cNvPr id="3" name="Text 1">
            <a:extLst>
              <a:ext uri="{FF2B5EF4-FFF2-40B4-BE49-F238E27FC236}">
                <a16:creationId xmlns:a16="http://schemas.microsoft.com/office/drawing/2014/main" id="{A98F15D6-715A-F562-81AC-0479BFD66A19}"/>
              </a:ext>
            </a:extLst>
          </p:cNvPr>
          <p:cNvSpPr txBox="1"/>
          <p:nvPr/>
        </p:nvSpPr>
        <p:spPr>
          <a:xfrm>
            <a:off x="457200" y="1280159"/>
            <a:ext cx="8229600"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Update </a:t>
            </a:r>
            <a:r>
              <a:rPr lang="en-US" sz="1600" dirty="0" err="1"/>
              <a:t>Stockcount</a:t>
            </a:r>
            <a:r>
              <a:rPr lang="en-US" sz="1600" dirty="0"/>
              <a:t> application with user info </a:t>
            </a:r>
          </a:p>
          <a:p>
            <a:pPr marL="285750" indent="-285750">
              <a:lnSpc>
                <a:spcPct val="150000"/>
              </a:lnSpc>
              <a:buFont typeface="Wingdings" panose="05000000000000000000" pitchFamily="2" charset="2"/>
              <a:buChar char="Ø"/>
            </a:pPr>
            <a:r>
              <a:rPr lang="en-US" sz="1600" dirty="0"/>
              <a:t>Give access to users to download the </a:t>
            </a:r>
            <a:r>
              <a:rPr lang="en-US" sz="1600" dirty="0" err="1"/>
              <a:t>Stockcount</a:t>
            </a:r>
            <a:r>
              <a:rPr lang="en-US" sz="1600" dirty="0"/>
              <a:t> application</a:t>
            </a:r>
          </a:p>
          <a:p>
            <a:pPr marL="285750" indent="-285750">
              <a:lnSpc>
                <a:spcPct val="150000"/>
              </a:lnSpc>
              <a:buFont typeface="Wingdings" panose="05000000000000000000" pitchFamily="2" charset="2"/>
              <a:buChar char="Ø"/>
            </a:pPr>
            <a:endParaRPr lang="en-US" sz="1600" dirty="0"/>
          </a:p>
        </p:txBody>
      </p:sp>
    </p:spTree>
    <p:extLst>
      <p:ext uri="{BB962C8B-B14F-4D97-AF65-F5344CB8AC3E}">
        <p14:creationId xmlns:p14="http://schemas.microsoft.com/office/powerpoint/2010/main" val="154909074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93525-6201-D038-9464-481E86F426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D713B2-FF4D-3D0B-68A1-38F60C42D1FC}"/>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err="1">
                <a:solidFill>
                  <a:schemeClr val="tx1"/>
                </a:solidFill>
              </a:rPr>
              <a:t>Stockcount</a:t>
            </a:r>
            <a:r>
              <a:rPr lang="en-US" sz="3200" b="1" dirty="0">
                <a:solidFill>
                  <a:schemeClr val="tx1"/>
                </a:solidFill>
              </a:rPr>
              <a:t> – Inventory taking application</a:t>
            </a:r>
            <a:endParaRPr lang="en-US" sz="3200" dirty="0">
              <a:solidFill>
                <a:schemeClr val="tx1"/>
              </a:solidFill>
            </a:endParaRPr>
          </a:p>
        </p:txBody>
      </p:sp>
      <p:sp>
        <p:nvSpPr>
          <p:cNvPr id="3" name="Text 1">
            <a:extLst>
              <a:ext uri="{FF2B5EF4-FFF2-40B4-BE49-F238E27FC236}">
                <a16:creationId xmlns:a16="http://schemas.microsoft.com/office/drawing/2014/main" id="{3E1232B2-1DB6-3EEF-964D-A81586B69202}"/>
              </a:ext>
            </a:extLst>
          </p:cNvPr>
          <p:cNvSpPr txBox="1"/>
          <p:nvPr/>
        </p:nvSpPr>
        <p:spPr>
          <a:xfrm>
            <a:off x="457200" y="1280159"/>
            <a:ext cx="8229600"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Download .zip file that Elixir will provide access </a:t>
            </a:r>
          </a:p>
          <a:p>
            <a:pPr marL="285750" indent="-285750">
              <a:lnSpc>
                <a:spcPct val="150000"/>
              </a:lnSpc>
              <a:buFont typeface="Wingdings" panose="05000000000000000000" pitchFamily="2" charset="2"/>
              <a:buChar char="Ø"/>
            </a:pPr>
            <a:r>
              <a:rPr lang="en-US" sz="1600" dirty="0"/>
              <a:t>Right click on .zip file and click on ‘Extract All’ and select the folder to copy files</a:t>
            </a:r>
          </a:p>
          <a:p>
            <a:pPr marL="285750" indent="-285750">
              <a:lnSpc>
                <a:spcPct val="150000"/>
              </a:lnSpc>
              <a:buFont typeface="Wingdings" panose="05000000000000000000" pitchFamily="2" charset="2"/>
              <a:buChar char="Ø"/>
            </a:pPr>
            <a:r>
              <a:rPr lang="en-US" sz="1600" dirty="0"/>
              <a:t>There will be 5 files with index.html</a:t>
            </a:r>
          </a:p>
          <a:p>
            <a:pPr marL="285750" indent="-285750">
              <a:lnSpc>
                <a:spcPct val="150000"/>
              </a:lnSpc>
              <a:buFont typeface="Wingdings" panose="05000000000000000000" pitchFamily="2" charset="2"/>
              <a:buChar char="Ø"/>
            </a:pPr>
            <a:r>
              <a:rPr lang="en-US" sz="1600" dirty="0"/>
              <a:t>Click on index.html and screen will open</a:t>
            </a:r>
          </a:p>
          <a:p>
            <a:pPr marL="285750" indent="-285750">
              <a:lnSpc>
                <a:spcPct val="150000"/>
              </a:lnSpc>
              <a:buFont typeface="Wingdings" panose="05000000000000000000" pitchFamily="2" charset="2"/>
              <a:buChar char="Ø"/>
            </a:pPr>
            <a:endParaRPr lang="en-US" sz="1600" dirty="0"/>
          </a:p>
        </p:txBody>
      </p:sp>
      <p:pic>
        <p:nvPicPr>
          <p:cNvPr id="5" name="Picture 4">
            <a:extLst>
              <a:ext uri="{FF2B5EF4-FFF2-40B4-BE49-F238E27FC236}">
                <a16:creationId xmlns:a16="http://schemas.microsoft.com/office/drawing/2014/main" id="{71F23E02-C3D3-CBED-01E5-47B3CD67BC4E}"/>
              </a:ext>
            </a:extLst>
          </p:cNvPr>
          <p:cNvPicPr>
            <a:picLocks noChangeAspect="1"/>
          </p:cNvPicPr>
          <p:nvPr/>
        </p:nvPicPr>
        <p:blipFill>
          <a:blip r:embed="rId4"/>
          <a:stretch>
            <a:fillRect/>
          </a:stretch>
        </p:blipFill>
        <p:spPr>
          <a:xfrm>
            <a:off x="1927806" y="2860766"/>
            <a:ext cx="2290206" cy="1823583"/>
          </a:xfrm>
          <a:prstGeom prst="rect">
            <a:avLst/>
          </a:prstGeom>
        </p:spPr>
      </p:pic>
    </p:spTree>
    <p:extLst>
      <p:ext uri="{BB962C8B-B14F-4D97-AF65-F5344CB8AC3E}">
        <p14:creationId xmlns:p14="http://schemas.microsoft.com/office/powerpoint/2010/main" val="281968176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5D7DD2-FD31-BF3F-DAB8-FADB0501DC6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31E89B-C15D-4F50-F254-4AB171D217DA}"/>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err="1">
                <a:solidFill>
                  <a:schemeClr val="tx1"/>
                </a:solidFill>
              </a:rPr>
              <a:t>Stockcount</a:t>
            </a:r>
            <a:r>
              <a:rPr lang="en-US" sz="3200" b="1" dirty="0">
                <a:solidFill>
                  <a:schemeClr val="tx1"/>
                </a:solidFill>
              </a:rPr>
              <a:t> – Inventory taking application</a:t>
            </a:r>
            <a:endParaRPr lang="en-US" sz="3200" dirty="0">
              <a:solidFill>
                <a:schemeClr val="tx1"/>
              </a:solidFill>
            </a:endParaRPr>
          </a:p>
        </p:txBody>
      </p:sp>
      <p:sp>
        <p:nvSpPr>
          <p:cNvPr id="3" name="Text 1">
            <a:extLst>
              <a:ext uri="{FF2B5EF4-FFF2-40B4-BE49-F238E27FC236}">
                <a16:creationId xmlns:a16="http://schemas.microsoft.com/office/drawing/2014/main" id="{76396232-832D-EC71-B83A-B1DF4C706DF1}"/>
              </a:ext>
            </a:extLst>
          </p:cNvPr>
          <p:cNvSpPr txBox="1"/>
          <p:nvPr/>
        </p:nvSpPr>
        <p:spPr>
          <a:xfrm>
            <a:off x="457200" y="1280159"/>
            <a:ext cx="8229600"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User will enter credentials and log in.</a:t>
            </a:r>
          </a:p>
          <a:p>
            <a:pPr marL="285750" indent="-285750">
              <a:lnSpc>
                <a:spcPct val="150000"/>
              </a:lnSpc>
              <a:buFont typeface="Wingdings" panose="05000000000000000000" pitchFamily="2" charset="2"/>
              <a:buChar char="Ø"/>
            </a:pPr>
            <a:r>
              <a:rPr lang="en-US" sz="1600" dirty="0"/>
              <a:t>User can see inventory taking screen</a:t>
            </a:r>
          </a:p>
          <a:p>
            <a:pPr marL="285750" indent="-285750">
              <a:lnSpc>
                <a:spcPct val="150000"/>
              </a:lnSpc>
              <a:buFont typeface="Wingdings" panose="05000000000000000000" pitchFamily="2" charset="2"/>
              <a:buChar char="Ø"/>
            </a:pPr>
            <a:r>
              <a:rPr lang="en-US" sz="1600" dirty="0"/>
              <a:t>Location Area and locations are as per user </a:t>
            </a:r>
          </a:p>
          <a:p>
            <a:pPr marL="285750" indent="-285750">
              <a:lnSpc>
                <a:spcPct val="150000"/>
              </a:lnSpc>
              <a:buFont typeface="Wingdings" panose="05000000000000000000" pitchFamily="2" charset="2"/>
              <a:buChar char="Ø"/>
            </a:pPr>
            <a:r>
              <a:rPr lang="en-US" sz="1600" dirty="0"/>
              <a:t>User will go bin by bin and enter data on UI</a:t>
            </a:r>
          </a:p>
          <a:p>
            <a:pPr marL="285750" indent="-285750">
              <a:lnSpc>
                <a:spcPct val="150000"/>
              </a:lnSpc>
              <a:buFont typeface="Wingdings" panose="05000000000000000000" pitchFamily="2" charset="2"/>
              <a:buChar char="Ø"/>
            </a:pPr>
            <a:r>
              <a:rPr lang="en-US" sz="1600" dirty="0"/>
              <a:t>Key is Product/Batch/Lot/Expiry Date/Good Damage Ind/Storage</a:t>
            </a:r>
          </a:p>
          <a:p>
            <a:pPr marL="285750" indent="-285750">
              <a:lnSpc>
                <a:spcPct val="150000"/>
              </a:lnSpc>
              <a:buFont typeface="Wingdings" panose="05000000000000000000" pitchFamily="2" charset="2"/>
              <a:buChar char="Ø"/>
            </a:pPr>
            <a:r>
              <a:rPr lang="en-US" sz="1600" dirty="0"/>
              <a:t>System shows old entry to edit if same key is entered again</a:t>
            </a:r>
          </a:p>
          <a:p>
            <a:pPr marL="285750" indent="-285750">
              <a:lnSpc>
                <a:spcPct val="150000"/>
              </a:lnSpc>
              <a:buFont typeface="Wingdings" panose="05000000000000000000" pitchFamily="2" charset="2"/>
              <a:buChar char="Ø"/>
            </a:pPr>
            <a:r>
              <a:rPr lang="en-US" sz="1600" dirty="0"/>
              <a:t>After completing, click on Save Count button</a:t>
            </a:r>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p:txBody>
      </p:sp>
      <p:pic>
        <p:nvPicPr>
          <p:cNvPr id="6" name="Picture 5">
            <a:extLst>
              <a:ext uri="{FF2B5EF4-FFF2-40B4-BE49-F238E27FC236}">
                <a16:creationId xmlns:a16="http://schemas.microsoft.com/office/drawing/2014/main" id="{DB1710F6-B41C-DDF7-012A-919CBE29CE8A}"/>
              </a:ext>
            </a:extLst>
          </p:cNvPr>
          <p:cNvPicPr>
            <a:picLocks noChangeAspect="1"/>
          </p:cNvPicPr>
          <p:nvPr/>
        </p:nvPicPr>
        <p:blipFill>
          <a:blip r:embed="rId4"/>
          <a:stretch>
            <a:fillRect/>
          </a:stretch>
        </p:blipFill>
        <p:spPr>
          <a:xfrm>
            <a:off x="6080761" y="921859"/>
            <a:ext cx="2280514" cy="3901601"/>
          </a:xfrm>
          <a:prstGeom prst="rect">
            <a:avLst/>
          </a:prstGeom>
        </p:spPr>
      </p:pic>
    </p:spTree>
    <p:extLst>
      <p:ext uri="{BB962C8B-B14F-4D97-AF65-F5344CB8AC3E}">
        <p14:creationId xmlns:p14="http://schemas.microsoft.com/office/powerpoint/2010/main" val="2192584119"/>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E3CF05-63FF-C5A5-1512-13F13E5CD9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249F8A-2943-CD3D-8C2B-AB73BB8549EE}"/>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err="1">
                <a:solidFill>
                  <a:schemeClr val="tx1"/>
                </a:solidFill>
              </a:rPr>
              <a:t>Stockcount</a:t>
            </a:r>
            <a:r>
              <a:rPr lang="en-US" sz="3200" b="1" dirty="0">
                <a:solidFill>
                  <a:schemeClr val="tx1"/>
                </a:solidFill>
              </a:rPr>
              <a:t> – Inventory taking application</a:t>
            </a:r>
            <a:endParaRPr lang="en-US" sz="3200" dirty="0">
              <a:solidFill>
                <a:schemeClr val="tx1"/>
              </a:solidFill>
            </a:endParaRPr>
          </a:p>
        </p:txBody>
      </p:sp>
      <p:sp>
        <p:nvSpPr>
          <p:cNvPr id="3" name="Text 1">
            <a:extLst>
              <a:ext uri="{FF2B5EF4-FFF2-40B4-BE49-F238E27FC236}">
                <a16:creationId xmlns:a16="http://schemas.microsoft.com/office/drawing/2014/main" id="{5D5D941E-EF2B-71B6-3698-76500877D321}"/>
              </a:ext>
            </a:extLst>
          </p:cNvPr>
          <p:cNvSpPr txBox="1"/>
          <p:nvPr/>
        </p:nvSpPr>
        <p:spPr>
          <a:xfrm>
            <a:off x="457200" y="1280159"/>
            <a:ext cx="8229600"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Admin can login using their credentials and select the user and can see the data captured.</a:t>
            </a:r>
          </a:p>
          <a:p>
            <a:pPr marL="285750" indent="-285750">
              <a:lnSpc>
                <a:spcPct val="150000"/>
              </a:lnSpc>
              <a:buFont typeface="Wingdings" panose="05000000000000000000" pitchFamily="2" charset="2"/>
              <a:buChar char="Ø"/>
            </a:pPr>
            <a:r>
              <a:rPr lang="en-US" sz="1600" dirty="0"/>
              <a:t>Admin can go to counted tab and select user &amp; click on Finish once done.</a:t>
            </a:r>
          </a:p>
          <a:p>
            <a:pPr marL="285750" indent="-285750">
              <a:lnSpc>
                <a:spcPct val="150000"/>
              </a:lnSpc>
              <a:buFont typeface="Wingdings" panose="05000000000000000000" pitchFamily="2" charset="2"/>
              <a:buChar char="Ø"/>
            </a:pPr>
            <a:r>
              <a:rPr lang="en-US" sz="1600" dirty="0"/>
              <a:t>Only Admin has rights to access counter and setup</a:t>
            </a:r>
          </a:p>
          <a:p>
            <a:pPr marL="285750" indent="-285750">
              <a:lnSpc>
                <a:spcPct val="150000"/>
              </a:lnSpc>
              <a:buFont typeface="Wingdings" panose="05000000000000000000" pitchFamily="2" charset="2"/>
              <a:buChar char="Ø"/>
            </a:pPr>
            <a:r>
              <a:rPr lang="en-US" sz="1600" dirty="0"/>
              <a:t>Admin can download excel data</a:t>
            </a:r>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p:txBody>
      </p:sp>
      <p:pic>
        <p:nvPicPr>
          <p:cNvPr id="5" name="Picture 4">
            <a:extLst>
              <a:ext uri="{FF2B5EF4-FFF2-40B4-BE49-F238E27FC236}">
                <a16:creationId xmlns:a16="http://schemas.microsoft.com/office/drawing/2014/main" id="{CDD636BE-2F27-619D-D1C1-82F2FD1AC32A}"/>
              </a:ext>
            </a:extLst>
          </p:cNvPr>
          <p:cNvPicPr>
            <a:picLocks noChangeAspect="1"/>
          </p:cNvPicPr>
          <p:nvPr/>
        </p:nvPicPr>
        <p:blipFill>
          <a:blip r:embed="rId4"/>
          <a:stretch>
            <a:fillRect/>
          </a:stretch>
        </p:blipFill>
        <p:spPr>
          <a:xfrm>
            <a:off x="5322854" y="2050310"/>
            <a:ext cx="3606952" cy="1924143"/>
          </a:xfrm>
          <a:prstGeom prst="rect">
            <a:avLst/>
          </a:prstGeom>
        </p:spPr>
      </p:pic>
      <p:pic>
        <p:nvPicPr>
          <p:cNvPr id="8" name="Picture 7">
            <a:extLst>
              <a:ext uri="{FF2B5EF4-FFF2-40B4-BE49-F238E27FC236}">
                <a16:creationId xmlns:a16="http://schemas.microsoft.com/office/drawing/2014/main" id="{FEFFD5A9-A972-0DC1-FE17-2AC5B99054C7}"/>
              </a:ext>
            </a:extLst>
          </p:cNvPr>
          <p:cNvPicPr>
            <a:picLocks noChangeAspect="1"/>
          </p:cNvPicPr>
          <p:nvPr/>
        </p:nvPicPr>
        <p:blipFill>
          <a:blip r:embed="rId5"/>
          <a:stretch>
            <a:fillRect/>
          </a:stretch>
        </p:blipFill>
        <p:spPr>
          <a:xfrm>
            <a:off x="692681" y="2847066"/>
            <a:ext cx="3605973" cy="1856607"/>
          </a:xfrm>
          <a:prstGeom prst="rect">
            <a:avLst/>
          </a:prstGeom>
        </p:spPr>
      </p:pic>
    </p:spTree>
    <p:extLst>
      <p:ext uri="{BB962C8B-B14F-4D97-AF65-F5344CB8AC3E}">
        <p14:creationId xmlns:p14="http://schemas.microsoft.com/office/powerpoint/2010/main" val="1280504509"/>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B0A091-0F1B-D20E-EB47-609C4206C6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51DB67-9F30-F0A7-5C3A-4D3B30EA30CB}"/>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err="1">
                <a:solidFill>
                  <a:schemeClr val="tx1"/>
                </a:solidFill>
              </a:rPr>
              <a:t>Stockcount</a:t>
            </a:r>
            <a:r>
              <a:rPr lang="en-US" sz="3200" b="1" dirty="0">
                <a:solidFill>
                  <a:schemeClr val="tx1"/>
                </a:solidFill>
              </a:rPr>
              <a:t> – Inventory taking application</a:t>
            </a:r>
            <a:endParaRPr lang="en-US" sz="3200" dirty="0">
              <a:solidFill>
                <a:schemeClr val="tx1"/>
              </a:solidFill>
            </a:endParaRPr>
          </a:p>
        </p:txBody>
      </p:sp>
      <p:sp>
        <p:nvSpPr>
          <p:cNvPr id="3" name="Text 1">
            <a:extLst>
              <a:ext uri="{FF2B5EF4-FFF2-40B4-BE49-F238E27FC236}">
                <a16:creationId xmlns:a16="http://schemas.microsoft.com/office/drawing/2014/main" id="{9C7D9A1A-E5EA-0024-F1E7-DFDB1EEA671F}"/>
              </a:ext>
            </a:extLst>
          </p:cNvPr>
          <p:cNvSpPr txBox="1"/>
          <p:nvPr/>
        </p:nvSpPr>
        <p:spPr>
          <a:xfrm>
            <a:off x="321869" y="1280159"/>
            <a:ext cx="8617305"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Excel data downloaded from </a:t>
            </a:r>
            <a:r>
              <a:rPr lang="en-US" sz="1600" dirty="0" err="1"/>
              <a:t>Stockcount</a:t>
            </a:r>
            <a:r>
              <a:rPr lang="en-US" sz="1600" dirty="0"/>
              <a:t> has to be imported to Elixir</a:t>
            </a:r>
          </a:p>
          <a:p>
            <a:pPr marL="285750" indent="-285750">
              <a:lnSpc>
                <a:spcPct val="150000"/>
              </a:lnSpc>
              <a:buFont typeface="Wingdings" panose="05000000000000000000" pitchFamily="2" charset="2"/>
              <a:buChar char="Ø"/>
            </a:pPr>
            <a:r>
              <a:rPr lang="en-US" sz="1600" dirty="0"/>
              <a:t>Go to Elixir WMS -&gt; Import/Export -&gt; Imports</a:t>
            </a:r>
          </a:p>
          <a:p>
            <a:pPr marL="285750" indent="-285750">
              <a:lnSpc>
                <a:spcPct val="150000"/>
              </a:lnSpc>
              <a:buFont typeface="Wingdings" panose="05000000000000000000" pitchFamily="2" charset="2"/>
              <a:buChar char="Ø"/>
            </a:pPr>
            <a:r>
              <a:rPr lang="en-US" sz="1600" dirty="0"/>
              <a:t>Choose the file downloaded from </a:t>
            </a:r>
            <a:r>
              <a:rPr lang="en-US" sz="1600" dirty="0" err="1"/>
              <a:t>Stockcount</a:t>
            </a:r>
            <a:r>
              <a:rPr lang="en-US" sz="1600" dirty="0"/>
              <a:t> and import</a:t>
            </a:r>
          </a:p>
          <a:p>
            <a:pPr marL="285750" indent="-285750">
              <a:lnSpc>
                <a:spcPct val="150000"/>
              </a:lnSpc>
              <a:buFont typeface="Wingdings" panose="05000000000000000000" pitchFamily="2" charset="2"/>
              <a:buChar char="Ø"/>
            </a:pPr>
            <a:r>
              <a:rPr lang="en-US" sz="1600" dirty="0"/>
              <a:t>If loaded multiple times, system will create multiple versions</a:t>
            </a:r>
          </a:p>
          <a:p>
            <a:pPr marL="285750" indent="-285750">
              <a:lnSpc>
                <a:spcPct val="150000"/>
              </a:lnSpc>
              <a:buFont typeface="Wingdings" panose="05000000000000000000" pitchFamily="2" charset="2"/>
              <a:buChar char="Ø"/>
            </a:pPr>
            <a:r>
              <a:rPr lang="en-US" sz="1600" dirty="0"/>
              <a:t>Only latest version will be used for Inventory Adjustment</a:t>
            </a:r>
          </a:p>
          <a:p>
            <a:pPr marL="285750" indent="-285750">
              <a:lnSpc>
                <a:spcPct val="150000"/>
              </a:lnSpc>
              <a:buFont typeface="Wingdings" panose="05000000000000000000" pitchFamily="2" charset="2"/>
              <a:buChar char="Ø"/>
            </a:pPr>
            <a:r>
              <a:rPr lang="en-US" sz="1600" dirty="0"/>
              <a:t>Extract data from Elixir that has been imported Go to WMS -&gt;Import-&gt;Export-&gt;Reports-&gt;</a:t>
            </a:r>
            <a:r>
              <a:rPr lang="en-US" sz="1600" dirty="0" err="1"/>
              <a:t>Stockcount</a:t>
            </a:r>
            <a:r>
              <a:rPr lang="en-US" sz="1600" dirty="0"/>
              <a:t> Inventory Report </a:t>
            </a:r>
          </a:p>
          <a:p>
            <a:pPr marL="285750" indent="-285750">
              <a:lnSpc>
                <a:spcPct val="150000"/>
              </a:lnSpc>
              <a:buFont typeface="Wingdings" panose="05000000000000000000" pitchFamily="2" charset="2"/>
              <a:buChar char="Ø"/>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p:txBody>
      </p:sp>
      <p:pic>
        <p:nvPicPr>
          <p:cNvPr id="6" name="Picture 5">
            <a:extLst>
              <a:ext uri="{FF2B5EF4-FFF2-40B4-BE49-F238E27FC236}">
                <a16:creationId xmlns:a16="http://schemas.microsoft.com/office/drawing/2014/main" id="{989244A0-925D-5E39-035D-D6908A91DF9A}"/>
              </a:ext>
            </a:extLst>
          </p:cNvPr>
          <p:cNvPicPr>
            <a:picLocks noChangeAspect="1"/>
          </p:cNvPicPr>
          <p:nvPr/>
        </p:nvPicPr>
        <p:blipFill>
          <a:blip r:embed="rId4"/>
          <a:stretch>
            <a:fillRect/>
          </a:stretch>
        </p:blipFill>
        <p:spPr>
          <a:xfrm>
            <a:off x="5711451" y="1667130"/>
            <a:ext cx="3362796" cy="1286055"/>
          </a:xfrm>
          <a:prstGeom prst="rect">
            <a:avLst/>
          </a:prstGeom>
        </p:spPr>
      </p:pic>
      <p:pic>
        <p:nvPicPr>
          <p:cNvPr id="11" name="Picture 10">
            <a:extLst>
              <a:ext uri="{FF2B5EF4-FFF2-40B4-BE49-F238E27FC236}">
                <a16:creationId xmlns:a16="http://schemas.microsoft.com/office/drawing/2014/main" id="{8824BA97-FFCB-65B7-410E-12C1861C5835}"/>
              </a:ext>
            </a:extLst>
          </p:cNvPr>
          <p:cNvPicPr>
            <a:picLocks noChangeAspect="1"/>
          </p:cNvPicPr>
          <p:nvPr/>
        </p:nvPicPr>
        <p:blipFill>
          <a:blip r:embed="rId5"/>
          <a:stretch>
            <a:fillRect/>
          </a:stretch>
        </p:blipFill>
        <p:spPr>
          <a:xfrm>
            <a:off x="3481557" y="3458661"/>
            <a:ext cx="3911292" cy="1632719"/>
          </a:xfrm>
          <a:prstGeom prst="rect">
            <a:avLst/>
          </a:prstGeom>
        </p:spPr>
      </p:pic>
    </p:spTree>
    <p:extLst>
      <p:ext uri="{BB962C8B-B14F-4D97-AF65-F5344CB8AC3E}">
        <p14:creationId xmlns:p14="http://schemas.microsoft.com/office/powerpoint/2010/main" val="331037549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7209F4-CC23-3864-D848-FB0FAE0790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A8595A-9CA5-88AD-7CCD-A0AC82A9154F}"/>
              </a:ext>
            </a:extLst>
          </p:cNvPr>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err="1">
                <a:solidFill>
                  <a:schemeClr val="tx1"/>
                </a:solidFill>
              </a:rPr>
              <a:t>Stockcount</a:t>
            </a:r>
            <a:r>
              <a:rPr lang="en-US" sz="3200" b="1" dirty="0">
                <a:solidFill>
                  <a:schemeClr val="tx1"/>
                </a:solidFill>
              </a:rPr>
              <a:t> – Inventory taking application</a:t>
            </a:r>
            <a:endParaRPr lang="en-US" sz="3200" dirty="0">
              <a:solidFill>
                <a:schemeClr val="tx1"/>
              </a:solidFill>
            </a:endParaRPr>
          </a:p>
        </p:txBody>
      </p:sp>
      <p:sp>
        <p:nvSpPr>
          <p:cNvPr id="3" name="Text 1">
            <a:extLst>
              <a:ext uri="{FF2B5EF4-FFF2-40B4-BE49-F238E27FC236}">
                <a16:creationId xmlns:a16="http://schemas.microsoft.com/office/drawing/2014/main" id="{E96DEFC9-DC71-B995-43E3-E541DEBA3BC7}"/>
              </a:ext>
            </a:extLst>
          </p:cNvPr>
          <p:cNvSpPr txBox="1"/>
          <p:nvPr/>
        </p:nvSpPr>
        <p:spPr>
          <a:xfrm>
            <a:off x="457200" y="1280159"/>
            <a:ext cx="8229600" cy="3677195"/>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Ø"/>
            </a:pPr>
            <a:r>
              <a:rPr lang="en-US" sz="1600" dirty="0"/>
              <a:t>Stock Inventory Report will give details of </a:t>
            </a:r>
            <a:r>
              <a:rPr lang="en-US" sz="1600" dirty="0" err="1"/>
              <a:t>Stockcount</a:t>
            </a:r>
            <a:r>
              <a:rPr lang="en-US" sz="1600" dirty="0"/>
              <a:t> data imported in Elixir. </a:t>
            </a:r>
          </a:p>
          <a:p>
            <a:pPr marL="285750" indent="-285750">
              <a:lnSpc>
                <a:spcPct val="150000"/>
              </a:lnSpc>
              <a:buFont typeface="Wingdings" panose="05000000000000000000" pitchFamily="2" charset="2"/>
              <a:buChar char="Ø"/>
            </a:pPr>
            <a:r>
              <a:rPr lang="en-US" sz="1600" dirty="0"/>
              <a:t>Admin can check and confirm the accuracy and credibility of the data captured by </a:t>
            </a:r>
            <a:r>
              <a:rPr lang="en-US" sz="1600" dirty="0" err="1"/>
              <a:t>Stockcount</a:t>
            </a:r>
            <a:endParaRPr lang="en-US" sz="1600" dirty="0"/>
          </a:p>
          <a:p>
            <a:pPr marL="285750" indent="-285750">
              <a:lnSpc>
                <a:spcPct val="150000"/>
              </a:lnSpc>
              <a:buFont typeface="Wingdings" panose="05000000000000000000" pitchFamily="2" charset="2"/>
              <a:buChar char="Ø"/>
            </a:pPr>
            <a:r>
              <a:rPr lang="en-US" sz="1600" dirty="0"/>
              <a:t>Admin can make changes in the excel and import again using </a:t>
            </a:r>
            <a:r>
              <a:rPr lang="en-US" sz="1600" dirty="0" err="1"/>
              <a:t>Stockcount</a:t>
            </a:r>
            <a:r>
              <a:rPr lang="en-US" sz="1600" dirty="0"/>
              <a:t> import. Make sure remove </a:t>
            </a:r>
            <a:r>
              <a:rPr lang="en-US" sz="1600" dirty="0" err="1"/>
              <a:t>staging_id</a:t>
            </a:r>
            <a:r>
              <a:rPr lang="en-US" sz="1600" dirty="0"/>
              <a:t> field from the excel.</a:t>
            </a:r>
          </a:p>
          <a:p>
            <a:pPr marL="285750" indent="-285750">
              <a:lnSpc>
                <a:spcPct val="150000"/>
              </a:lnSpc>
              <a:buFont typeface="Wingdings" panose="05000000000000000000" pitchFamily="2" charset="2"/>
              <a:buChar char="Ø"/>
            </a:pPr>
            <a:r>
              <a:rPr lang="en-US" sz="1600" dirty="0"/>
              <a:t>Stock Inventory Download report will give inventory data at location that is in Elixir and in </a:t>
            </a:r>
            <a:r>
              <a:rPr lang="en-US" sz="1600" dirty="0" err="1"/>
              <a:t>Stockcount</a:t>
            </a:r>
            <a:endParaRPr lang="en-US" sz="1600" dirty="0"/>
          </a:p>
          <a:p>
            <a:pPr marL="285750" indent="-285750">
              <a:lnSpc>
                <a:spcPct val="150000"/>
              </a:lnSpc>
              <a:buFont typeface="Wingdings" panose="05000000000000000000" pitchFamily="2" charset="2"/>
              <a:buChar char="Ø"/>
            </a:pPr>
            <a:r>
              <a:rPr lang="en-US" sz="1600" dirty="0"/>
              <a:t>User can compare </a:t>
            </a:r>
            <a:r>
              <a:rPr lang="en-US" sz="1600" dirty="0" err="1"/>
              <a:t>Stockcount</a:t>
            </a:r>
            <a:r>
              <a:rPr lang="en-US" sz="1600" dirty="0"/>
              <a:t> data and Elixir</a:t>
            </a:r>
          </a:p>
          <a:p>
            <a:pPr marL="285750" indent="-285750">
              <a:lnSpc>
                <a:spcPct val="150000"/>
              </a:lnSpc>
              <a:buFont typeface="Wingdings" panose="05000000000000000000" pitchFamily="2" charset="2"/>
              <a:buChar char="Ø"/>
            </a:pPr>
            <a:r>
              <a:rPr lang="en-US" sz="1600" dirty="0"/>
              <a:t>This excel report will be then send to Elixir Support</a:t>
            </a:r>
          </a:p>
          <a:p>
            <a:pPr marL="285750" indent="-285750">
              <a:lnSpc>
                <a:spcPct val="150000"/>
              </a:lnSpc>
              <a:buFont typeface="Wingdings" panose="05000000000000000000" pitchFamily="2" charset="2"/>
              <a:buChar char="Ø"/>
            </a:pPr>
            <a:r>
              <a:rPr lang="en-US" sz="1600" dirty="0"/>
              <a:t>Elixir </a:t>
            </a:r>
            <a:r>
              <a:rPr lang="en-US" sz="1600" dirty="0" err="1"/>
              <a:t>Suppor</a:t>
            </a:r>
            <a:r>
              <a:rPr lang="en-US" sz="1600" dirty="0"/>
              <a:t> team will perform the adjustment</a:t>
            </a:r>
          </a:p>
          <a:p>
            <a:pPr marL="285750" indent="-285750">
              <a:lnSpc>
                <a:spcPct val="150000"/>
              </a:lnSpc>
              <a:buFont typeface="Wingdings" panose="05000000000000000000" pitchFamily="2" charset="2"/>
              <a:buChar char="Ø"/>
            </a:pPr>
            <a:r>
              <a:rPr lang="en-US" sz="1600" dirty="0"/>
              <a:t>Once adjustment is done, Elixir will have data sent</a:t>
            </a:r>
          </a:p>
          <a:p>
            <a:pPr marL="285750" indent="-285750">
              <a:lnSpc>
                <a:spcPct val="150000"/>
              </a:lnSpc>
              <a:buFont typeface="Wingdings" panose="05000000000000000000" pitchFamily="2" charset="2"/>
              <a:buChar char="Ø"/>
            </a:pPr>
            <a:endParaRPr lang="en-US" sz="1600" dirty="0"/>
          </a:p>
          <a:p>
            <a:pPr>
              <a:lnSpc>
                <a:spcPct val="150000"/>
              </a:lnSpc>
            </a:pPr>
            <a:endParaRPr lang="en-US" sz="1600" dirty="0"/>
          </a:p>
          <a:p>
            <a:pPr>
              <a:lnSpc>
                <a:spcPct val="150000"/>
              </a:lnSpc>
            </a:pPr>
            <a:endParaRPr lang="en-US" sz="1600" dirty="0"/>
          </a:p>
          <a:p>
            <a:pPr>
              <a:lnSpc>
                <a:spcPct val="150000"/>
              </a:lnSpc>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a:p>
            <a:pPr marL="285750" indent="-285750">
              <a:lnSpc>
                <a:spcPct val="150000"/>
              </a:lnSpc>
              <a:buFont typeface="Wingdings" panose="05000000000000000000" pitchFamily="2" charset="2"/>
              <a:buChar char="Ø"/>
            </a:pPr>
            <a:endParaRPr lang="en-US" sz="1600" dirty="0"/>
          </a:p>
        </p:txBody>
      </p:sp>
      <p:pic>
        <p:nvPicPr>
          <p:cNvPr id="9" name="Picture 8">
            <a:extLst>
              <a:ext uri="{FF2B5EF4-FFF2-40B4-BE49-F238E27FC236}">
                <a16:creationId xmlns:a16="http://schemas.microsoft.com/office/drawing/2014/main" id="{0CB143F4-229C-B425-1287-D874FC2FD267}"/>
              </a:ext>
            </a:extLst>
          </p:cNvPr>
          <p:cNvPicPr>
            <a:picLocks noChangeAspect="1"/>
          </p:cNvPicPr>
          <p:nvPr/>
        </p:nvPicPr>
        <p:blipFill>
          <a:blip r:embed="rId4"/>
          <a:stretch>
            <a:fillRect/>
          </a:stretch>
        </p:blipFill>
        <p:spPr>
          <a:xfrm>
            <a:off x="4981770" y="3231513"/>
            <a:ext cx="3705030" cy="1498287"/>
          </a:xfrm>
          <a:prstGeom prst="rect">
            <a:avLst/>
          </a:prstGeom>
        </p:spPr>
      </p:pic>
    </p:spTree>
    <p:extLst>
      <p:ext uri="{BB962C8B-B14F-4D97-AF65-F5344CB8AC3E}">
        <p14:creationId xmlns:p14="http://schemas.microsoft.com/office/powerpoint/2010/main" val="1022909615"/>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Warehouse Count">
  <a:themeElements>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fontScheme name="Warehouse Cou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2.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3.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4.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5.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6.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7.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ppt/theme/themeOverride8.xml><?xml version="1.0" encoding="utf-8"?>
<a:themeOverride xmlns:a="http://schemas.openxmlformats.org/drawingml/2006/main">
  <a:clrScheme name="Warehouse Count">
    <a:dk1>
      <a:srgbClr val="1B262C"/>
    </a:dk1>
    <a:lt1>
      <a:srgbClr val="FFFFFF"/>
    </a:lt1>
    <a:dk2>
      <a:srgbClr val="0F4C5C"/>
    </a:dk2>
    <a:lt2>
      <a:srgbClr val="EAF0F1"/>
    </a:lt2>
    <a:accent1>
      <a:srgbClr val="F2A900"/>
    </a:accent1>
    <a:accent2>
      <a:srgbClr val="0F4C5C"/>
    </a:accent2>
    <a:accent3>
      <a:srgbClr val="1E7B70"/>
    </a:accent3>
    <a:accent4>
      <a:srgbClr val="E4572E"/>
    </a:accent4>
    <a:accent5>
      <a:srgbClr val="56646B"/>
    </a:accent5>
    <a:accent6>
      <a:srgbClr val="A7C4BC"/>
    </a:accent6>
    <a:hlink>
      <a:srgbClr val="0F4C5C"/>
    </a:hlink>
    <a:folHlink>
      <a:srgbClr val="56646B"/>
    </a:folHlink>
  </a:clrScheme>
</a:themeOverride>
</file>

<file path=docProps/app.xml><?xml version="1.0" encoding="utf-8"?>
<Properties xmlns="http://schemas.openxmlformats.org/officeDocument/2006/extended-properties" xmlns:vt="http://schemas.openxmlformats.org/officeDocument/2006/docPropsVTypes">
  <Template/>
  <TotalTime>130</TotalTime>
  <Words>1378</Words>
  <Application>Microsoft Office PowerPoint</Application>
  <PresentationFormat>On-screen Show (16:9)</PresentationFormat>
  <Paragraphs>175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Wingdings</vt:lpstr>
      <vt:lpstr>Warehouse Count</vt:lpstr>
      <vt:lpstr>Inventory Taking  in the SLT Dayton Warehouse</vt:lpstr>
      <vt:lpstr>The Stockcount app is the golden source</vt:lpstr>
      <vt:lpstr>The process at a glance</vt:lpstr>
      <vt:lpstr>Before you start</vt:lpstr>
      <vt:lpstr>Process flow</vt:lpstr>
      <vt:lpstr>New reports for Adjustment</vt:lpstr>
      <vt:lpstr>Decide: adjust or receive</vt:lpstr>
      <vt:lpstr>Points to discuss</vt:lpstr>
      <vt:lpstr>Make sure the Stockcount data is right</vt:lpstr>
      <vt:lpstr>Pre Steps for SLT</vt:lpstr>
      <vt:lpstr>Pre Steps for Elixir Support</vt:lpstr>
      <vt:lpstr>Stockcount – Inventory taking application</vt:lpstr>
      <vt:lpstr>Stockcount – Inventory taking application</vt:lpstr>
      <vt:lpstr>Stockcount – Inventory taking application</vt:lpstr>
      <vt:lpstr>Stockcount – Inventory taking application</vt:lpstr>
      <vt:lpstr>Stockcount – Inventory taking application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Taking in the Warehouse</dc:title>
  <dc:subject>PptxGenJS Presentation</dc:subject>
  <dc:creator>PptxGenJS</dc:creator>
  <cp:lastModifiedBy>Sameer Mathur</cp:lastModifiedBy>
  <cp:revision>14</cp:revision>
  <dcterms:created xsi:type="dcterms:W3CDTF">2026-10-12T18:12:48Z</dcterms:created>
  <dcterms:modified xsi:type="dcterms:W3CDTF">2026-10-21T22:17:15Z</dcterms:modified>
</cp:coreProperties>
</file>